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293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81662-40EF-4CEB-815F-2F9C210D973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05064-B67E-4D21-9D79-2429209A1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560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505064-B67E-4D21-9D79-2429209A14B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954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858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C346F"/>
          </a:solidFill>
          <a:ln>
            <a:solidFill>
              <a:srgbClr val="0C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TBC1000B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6420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B4CDFF"/>
                </a:solidFill>
                <a:latin typeface="맑은 고딕"/>
              </a:rPr>
              <a:t>Battery Control 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02311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 err="1">
                <a:solidFill>
                  <a:srgbClr val="0C346F"/>
                </a:solidFill>
                <a:latin typeface="맑은 고딕"/>
              </a:rPr>
              <a:t>고객</a:t>
            </a:r>
            <a:r>
              <a:rPr sz="34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3400" b="1" dirty="0" err="1">
                <a:solidFill>
                  <a:srgbClr val="0C346F"/>
                </a:solidFill>
                <a:latin typeface="맑은 고딕"/>
              </a:rPr>
              <a:t>사용자</a:t>
            </a:r>
            <a:r>
              <a:rPr sz="34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3400" b="1" dirty="0" err="1">
                <a:solidFill>
                  <a:srgbClr val="0C346F"/>
                </a:solidFill>
                <a:latin typeface="맑은 고딕"/>
              </a:rPr>
              <a:t>매뉴얼</a:t>
            </a:r>
            <a:endParaRPr sz="3400" b="1" dirty="0">
              <a:solidFill>
                <a:srgbClr val="0C346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2272" y="2788920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75467"/>
                </a:solidFill>
                <a:latin typeface="맑은 고딕"/>
              </a:rPr>
              <a:t>정류기용 축전지 시스템의 접속, 상태 확인 및 제어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3401568"/>
            <a:ext cx="960120" cy="64008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367588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69FF"/>
                </a:solidFill>
                <a:latin typeface="맑은 고딕"/>
              </a:rPr>
              <a:t>MiniGUI V1.0.0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4069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667085"/>
                </a:solidFill>
                <a:latin typeface="맑은 고딕"/>
              </a:rPr>
              <a:t>2026. 08</a:t>
            </a:r>
            <a:r>
              <a:rPr lang="en-US" altLang="ko-KR" sz="1200" b="0" dirty="0">
                <a:solidFill>
                  <a:srgbClr val="667085"/>
                </a:solidFill>
                <a:latin typeface="맑은 고딕"/>
              </a:rPr>
              <a:t>.30</a:t>
            </a:r>
            <a:endParaRPr sz="1200" b="0" dirty="0">
              <a:solidFill>
                <a:srgbClr val="667085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62272" y="5296159"/>
            <a:ext cx="400265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 err="1">
                <a:solidFill>
                  <a:srgbClr val="D92D20"/>
                </a:solidFill>
                <a:latin typeface="맑은 고딕"/>
              </a:rPr>
              <a:t>운영</a:t>
            </a:r>
            <a:r>
              <a:rPr sz="1100" b="1" dirty="0">
                <a:solidFill>
                  <a:srgbClr val="D92D20"/>
                </a:solidFill>
                <a:latin typeface="맑은 고딕"/>
              </a:rPr>
              <a:t> 전 본 </a:t>
            </a:r>
            <a:r>
              <a:rPr sz="1100" b="1" dirty="0" err="1">
                <a:solidFill>
                  <a:srgbClr val="D92D20"/>
                </a:solidFill>
                <a:latin typeface="맑은 고딕"/>
              </a:rPr>
              <a:t>매뉴얼의</a:t>
            </a:r>
            <a:r>
              <a:rPr sz="1100" b="1" dirty="0">
                <a:solidFill>
                  <a:srgbClr val="D92D20"/>
                </a:solidFill>
                <a:latin typeface="맑은 고딕"/>
              </a:rPr>
              <a:t> EPO </a:t>
            </a:r>
            <a:r>
              <a:rPr sz="1100" b="1" dirty="0" err="1">
                <a:solidFill>
                  <a:srgbClr val="D92D20"/>
                </a:solidFill>
                <a:latin typeface="맑은 고딕"/>
              </a:rPr>
              <a:t>주의사항을</a:t>
            </a:r>
            <a:r>
              <a:rPr sz="1100" b="1" dirty="0">
                <a:solidFill>
                  <a:srgbClr val="D92D2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D92D20"/>
                </a:solidFill>
                <a:latin typeface="맑은 고딕"/>
              </a:rPr>
              <a:t>반드시</a:t>
            </a:r>
            <a:r>
              <a:rPr sz="1100" b="1" dirty="0">
                <a:solidFill>
                  <a:srgbClr val="D92D2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D92D20"/>
                </a:solidFill>
                <a:latin typeface="맑은 고딕"/>
              </a:rPr>
              <a:t>확인하십시오</a:t>
            </a:r>
            <a:r>
              <a:rPr sz="1100" b="1" dirty="0">
                <a:solidFill>
                  <a:srgbClr val="D92D20"/>
                </a:solidFill>
                <a:latin typeface="맑은 고딕"/>
              </a:rPr>
              <a:t>.</a:t>
            </a:r>
          </a:p>
        </p:txBody>
      </p:sp>
      <p:sp>
        <p:nvSpPr>
          <p:cNvPr id="25" name="SKT accent red">
            <a:extLst>
              <a:ext uri="{FF2B5EF4-FFF2-40B4-BE49-F238E27FC236}">
                <a16:creationId xmlns:a16="http://schemas.microsoft.com/office/drawing/2014/main" id="{19EDE75A-493C-428C-97B2-C105EF2AE0EC}"/>
              </a:ext>
            </a:extLst>
          </p:cNvPr>
          <p:cNvSpPr/>
          <p:nvPr/>
        </p:nvSpPr>
        <p:spPr>
          <a:xfrm>
            <a:off x="0" y="-6858"/>
            <a:ext cx="9160684" cy="411479"/>
          </a:xfrm>
          <a:prstGeom prst="rect">
            <a:avLst/>
          </a:prstGeom>
          <a:solidFill>
            <a:srgbClr val="EA002C"/>
          </a:solidFill>
          <a:ln>
            <a:solidFill>
              <a:srgbClr val="EA0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KT accent orange">
            <a:extLst>
              <a:ext uri="{FF2B5EF4-FFF2-40B4-BE49-F238E27FC236}">
                <a16:creationId xmlns:a16="http://schemas.microsoft.com/office/drawing/2014/main" id="{D16E84E1-240A-47B5-A881-D720888F4D04}"/>
              </a:ext>
            </a:extLst>
          </p:cNvPr>
          <p:cNvSpPr/>
          <p:nvPr/>
        </p:nvSpPr>
        <p:spPr>
          <a:xfrm>
            <a:off x="9162610" y="0"/>
            <a:ext cx="3029085" cy="397764"/>
          </a:xfrm>
          <a:prstGeom prst="rect">
            <a:avLst/>
          </a:prstGeom>
          <a:solidFill>
            <a:srgbClr val="FF7000"/>
          </a:solidFill>
          <a:ln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7984734-B4D3-474C-86AD-CB4A563F2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135" y="458724"/>
            <a:ext cx="2316735" cy="1137458"/>
          </a:xfrm>
          <a:prstGeom prst="rect">
            <a:avLst/>
          </a:prstGeom>
        </p:spPr>
      </p:pic>
      <p:sp>
        <p:nvSpPr>
          <p:cNvPr id="28" name="Pantech accent">
            <a:extLst>
              <a:ext uri="{FF2B5EF4-FFF2-40B4-BE49-F238E27FC236}">
                <a16:creationId xmlns:a16="http://schemas.microsoft.com/office/drawing/2014/main" id="{4AB4CFB2-0043-491D-B641-846B88090DB3}"/>
              </a:ext>
            </a:extLst>
          </p:cNvPr>
          <p:cNvSpPr/>
          <p:nvPr/>
        </p:nvSpPr>
        <p:spPr>
          <a:xfrm>
            <a:off x="0" y="6551676"/>
            <a:ext cx="12191695" cy="306324"/>
          </a:xfrm>
          <a:prstGeom prst="rect">
            <a:avLst/>
          </a:prstGeom>
          <a:solidFill>
            <a:srgbClr val="008FAE"/>
          </a:solidFill>
          <a:ln>
            <a:solidFill>
              <a:srgbClr val="00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3ECC6E4C-46C6-4FD5-80AD-60A5C90C5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550" y="5889290"/>
            <a:ext cx="2139665" cy="639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사용 절차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34416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25272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프로그램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56362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초기 화면과 READY 상태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430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73952" y="134416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25272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설치 정보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56362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설치 장소와 축전지명 입력 후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" y="276148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267004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접속 정보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298094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시스템 IP와 SNMP Port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5603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73952" y="276148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67004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시스템 접속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98094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접속시작 클릭 후 결과 팝업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776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0392" y="4178807"/>
            <a:ext cx="493776" cy="493776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08736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운전 상태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39826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ONLINE, 정상 접속 및 Rack 값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9776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73952" y="4178807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087368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설정 및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39826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필요 시 SOC 설정 또는 EPO 수행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532120"/>
            <a:ext cx="10835640" cy="566928"/>
          </a:xfrm>
          <a:prstGeom prst="roundRect">
            <a:avLst/>
          </a:prstGeom>
          <a:solidFill>
            <a:srgbClr val="FEF3F2"/>
          </a:solidFill>
          <a:ln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614416"/>
            <a:ext cx="10378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맑은 고딕"/>
              </a:rPr>
              <a:t>주의  |  EPO는 전체 모듈 출력을 차단·복구하는 기능입니다. 권한을 가진 운영자만 사용하십시오.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1. 프로그램 실행 및 초기 화면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38" y="987552"/>
            <a:ext cx="5085402" cy="5230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3438" y="987552"/>
            <a:ext cx="5085402" cy="5230368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41407" y="1306476"/>
            <a:ext cx="579863" cy="533474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31679" y="1196748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2606" y="2045690"/>
            <a:ext cx="4801269" cy="328294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5396" y="1726227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2606" y="3236976"/>
            <a:ext cx="4801269" cy="310896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9058" y="2975442"/>
            <a:ext cx="310896" cy="310896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143000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초기 확인 항목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73736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93992" y="193852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1847088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READY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157984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우측 상단 표시가 READY인지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85292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93992" y="3054096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2962656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접속 정보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27355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운영 대상 시스템의 IP와 SNMP Port를 확인합니다.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968496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793992" y="4169663"/>
            <a:ext cx="493776" cy="493776"/>
          </a:xfrm>
          <a:prstGeom prst="round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4078224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접속 대기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4389120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접속 전 Rack 값이 '-'로 표시되는 것은 정상입니다.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5266944"/>
            <a:ext cx="4800600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76288" y="5376672"/>
            <a:ext cx="43159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C346F"/>
                </a:solidFill>
                <a:latin typeface="맑은 고딕"/>
              </a:rPr>
              <a:t>기본 SNMP Port는 161입니다. 현장 설정이 다르면 지정값을 입력하십시오.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2. 설치 정보 저장 및 시스템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38" y="987552"/>
            <a:ext cx="5085402" cy="5230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3438" y="987552"/>
            <a:ext cx="5085402" cy="5230368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2606" y="2057399"/>
            <a:ext cx="4801269" cy="310897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6198" y="1828800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2606" y="2654213"/>
            <a:ext cx="4801269" cy="282683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1438" y="2405020"/>
            <a:ext cx="310896" cy="310896"/>
          </a:xfrm>
          <a:prstGeom prst="ellipse">
            <a:avLst/>
          </a:prstGeom>
          <a:solidFill>
            <a:srgbClr val="0398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069848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입력 및 접속 순서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66420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93992" y="1865376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773936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시스템 접속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208483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시스템 IP와 SNMP Port가 현장 정보와 일치하는지 확인합니다.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779776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93992" y="2980944"/>
            <a:ext cx="493776" cy="493776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889504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설치 정보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3200400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설치 장소와 축전지명을 입력하고 [저장]을 클릭합니다.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895344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93992" y="4096511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4005072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접속 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3159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[접속시작]을 클릭합니다. 결과 팝업 전까지 버튼은 비활성화됩니다.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5193792"/>
            <a:ext cx="4800600" cy="786384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5285232"/>
            <a:ext cx="43708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75467"/>
                </a:solidFill>
                <a:latin typeface="맑은 고딕"/>
              </a:rPr>
              <a:t>팝업 확인
성공: 축전지 시스템 연결 성공  |  실패: IP·Port·통신망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3. 접속 성공 및 운전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55" y="960120"/>
            <a:ext cx="5289968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6855" y="960120"/>
            <a:ext cx="5289968" cy="544068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53125" y="1299220"/>
            <a:ext cx="648058" cy="557632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43397" y="1189492"/>
            <a:ext cx="310896" cy="310896"/>
          </a:xfrm>
          <a:prstGeom prst="ellipse">
            <a:avLst/>
          </a:prstGeom>
          <a:solidFill>
            <a:srgbClr val="0398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31" y="3256278"/>
            <a:ext cx="5003617" cy="409109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04103" y="3065848"/>
            <a:ext cx="310896" cy="310896"/>
          </a:xfrm>
          <a:prstGeom prst="ellipse">
            <a:avLst/>
          </a:prstGeom>
          <a:solidFill>
            <a:srgbClr val="0398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31" y="3879664"/>
            <a:ext cx="5003617" cy="576958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4103" y="3661158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078992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정상 접속 판단 기준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64208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65392" y="1865376"/>
            <a:ext cx="493776" cy="493776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1773936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084832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우측 상단 표시가 녹색 ONLINE으로 변경됩니다.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79776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65392" y="2980944"/>
            <a:ext cx="493776" cy="493776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889504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정상 접속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20040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접속 상태에 녹색 점과 '정상 접속'이 표시됩니다.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95344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65392" y="4096511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00507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Rack 값 수신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4315968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전체용량, 전압, 전류 값과 최종 업데이트 시각을 확인합니다.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193792"/>
            <a:ext cx="5074920" cy="749808"/>
          </a:xfrm>
          <a:prstGeom prst="roundRect">
            <a:avLst/>
          </a:prstGeom>
          <a:solidFill>
            <a:srgbClr val="FEF3F2"/>
          </a:solidFill>
          <a:ln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7688" y="532180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92D20"/>
                </a:solidFill>
                <a:latin typeface="맑은 고딕"/>
              </a:rPr>
              <a:t>값이 장시간 갱신되지 않거나 '-'로 유지되면 네트워크 및 장비 상태를 확인하십시오.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4. Rack 기본정보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2" y="987552"/>
            <a:ext cx="5112154" cy="5257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1482" y="987552"/>
            <a:ext cx="5112154" cy="525780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7128" y="3817619"/>
            <a:ext cx="4820863" cy="541623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8820" y="3601393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6763" y="3143104"/>
            <a:ext cx="1602099" cy="400524"/>
          </a:xfrm>
          <a:prstGeom prst="roundRect">
            <a:avLst/>
          </a:prstGeom>
          <a:noFill/>
          <a:ln w="31750"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61315" y="2972416"/>
            <a:ext cx="310896" cy="310896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115568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표시 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691640"/>
            <a:ext cx="5029200" cy="1965960"/>
          </a:xfrm>
          <a:prstGeom prst="roundRect">
            <a:avLst/>
          </a:prstGeom>
          <a:solidFill>
            <a:srgbClr val="EEF4FF"/>
          </a:solidFill>
          <a:ln>
            <a:solidFill>
              <a:srgbClr val="B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0195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C346F"/>
                </a:solidFill>
                <a:latin typeface="맑은 고딕"/>
              </a:rPr>
              <a:t>전체용량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90195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75467"/>
                </a:solidFill>
                <a:latin typeface="맑은 고딕"/>
              </a:rPr>
              <a:t>Rack 정격/설정 용량 (Ah)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40487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C346F"/>
                </a:solidFill>
                <a:latin typeface="맑은 고딕"/>
              </a:rPr>
              <a:t>전압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40487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75467"/>
                </a:solidFill>
                <a:latin typeface="맑은 고딕"/>
              </a:rPr>
              <a:t>현재 Rack 전압 (V)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0779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C346F"/>
                </a:solidFill>
                <a:latin typeface="맑은 고딕"/>
              </a:rPr>
              <a:t>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9077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75467"/>
                </a:solidFill>
                <a:latin typeface="맑은 고딕"/>
              </a:rPr>
              <a:t>현재 Rack 전류 (A)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1234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79009"/>
                </a:solidFill>
                <a:latin typeface="맑은 고딕"/>
              </a:rPr>
              <a:t>업데이트 시각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46704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수신 데이터의 최신성을 판단합니다.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3977639"/>
            <a:ext cx="502920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4160520"/>
            <a:ext cx="640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C346F"/>
                </a:solidFill>
                <a:latin typeface="맑은 고딕"/>
              </a:rPr>
              <a:t>참고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96512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467"/>
                </a:solidFill>
                <a:latin typeface="맑은 고딕"/>
              </a:rPr>
              <a:t>전류 부호는 시스템 운전 방향을 나타냅니다. 현장 운전 기준에 따라 충전/방전 방향을 판단하십시오.</a:t>
            </a:r>
          </a:p>
        </p:txBody>
      </p:sp>
      <p:sp>
        <p:nvSpPr>
          <p:cNvPr id="27" name="Oval 10">
            <a:extLst>
              <a:ext uri="{FF2B5EF4-FFF2-40B4-BE49-F238E27FC236}">
                <a16:creationId xmlns:a16="http://schemas.microsoft.com/office/drawing/2014/main" id="{29E3C353-7841-4DC9-AF5E-C46C7C221BD0}"/>
              </a:ext>
            </a:extLst>
          </p:cNvPr>
          <p:cNvSpPr/>
          <p:nvPr/>
        </p:nvSpPr>
        <p:spPr>
          <a:xfrm>
            <a:off x="6446520" y="1591056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Oval 12">
            <a:extLst>
              <a:ext uri="{FF2B5EF4-FFF2-40B4-BE49-F238E27FC236}">
                <a16:creationId xmlns:a16="http://schemas.microsoft.com/office/drawing/2014/main" id="{BB225101-E8E9-4185-9348-55D36125DFB0}"/>
              </a:ext>
            </a:extLst>
          </p:cNvPr>
          <p:cNvSpPr/>
          <p:nvPr/>
        </p:nvSpPr>
        <p:spPr>
          <a:xfrm>
            <a:off x="6443911" y="3346704"/>
            <a:ext cx="310896" cy="310896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5. SOC 충전제한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2" y="987552"/>
            <a:ext cx="5112154" cy="5257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1482" y="987552"/>
            <a:ext cx="5112154" cy="525780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22322" y="4519453"/>
            <a:ext cx="1092340" cy="422371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12594" y="4409725"/>
            <a:ext cx="310896" cy="310896"/>
          </a:xfrm>
          <a:prstGeom prst="ellipse">
            <a:avLst/>
          </a:prstGeom>
          <a:solidFill>
            <a:srgbClr val="0398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2377" y="4519453"/>
            <a:ext cx="742791" cy="422371"/>
          </a:xfrm>
          <a:prstGeom prst="roundRect">
            <a:avLst/>
          </a:prstGeom>
          <a:noFill/>
          <a:ln w="31750"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22649" y="4409725"/>
            <a:ext cx="310896" cy="310896"/>
          </a:xfrm>
          <a:prstGeom prst="ellipse">
            <a:avLst/>
          </a:prstGeom>
          <a:solidFill>
            <a:srgbClr val="2669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133856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설정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719072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493776" cy="493776"/>
          </a:xfrm>
          <a:prstGeom prst="roundRect">
            <a:avLst/>
          </a:prstGeom>
          <a:solidFill>
            <a:srgbClr val="039855"/>
          </a:solidFill>
          <a:ln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4069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현재 설정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39696"/>
            <a:ext cx="4069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SOC 충전제한 영역의 현재 설정값을 확인합니다.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2834640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75120" y="303580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44368"/>
            <a:ext cx="4069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설정 변경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55264"/>
            <a:ext cx="4069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[설정 변경]을 클릭하고 허용된 범위의 값을 입력합니다.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3950208"/>
            <a:ext cx="5029200" cy="960120"/>
          </a:xfrm>
          <a:prstGeom prst="roundRect">
            <a:avLst/>
          </a:prstGeom>
          <a:solidFill>
            <a:srgbClr val="EEF4FF"/>
          </a:solidFill>
          <a:ln>
            <a:solidFill>
              <a:srgbClr val="B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4050791"/>
            <a:ext cx="45537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C346F"/>
                </a:solidFill>
                <a:latin typeface="맑은 고딕"/>
              </a:rPr>
              <a:t>적용 결과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4370832"/>
            <a:ext cx="45537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설정 완료 후 1번 현재 설정값이 변경되었는지 확인합니다.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5230368"/>
            <a:ext cx="5029200" cy="713232"/>
          </a:xfrm>
          <a:prstGeom prst="roundRect">
            <a:avLst/>
          </a:prstGeom>
          <a:solidFill>
            <a:srgbClr val="FEF3F2"/>
          </a:solidFill>
          <a:ln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5340096"/>
            <a:ext cx="455371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92D20"/>
                </a:solidFill>
                <a:latin typeface="맑은 고딕"/>
              </a:rPr>
              <a:t>운전 정책과 다른 SOC 값은 축전지 운전에 영향을 줄 수 있습니다. 승인된 값만 입력하십시오.</a:t>
            </a:r>
          </a:p>
        </p:txBody>
      </p:sp>
    </p:spTree>
    <p:extLst>
      <p:ext uri="{BB962C8B-B14F-4D97-AF65-F5344CB8AC3E}">
        <p14:creationId xmlns:p14="http://schemas.microsoft.com/office/powerpoint/2010/main" val="286204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6. EPO 전체차단 및 전체복구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EMERGENCY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pic>
        <p:nvPicPr>
          <p:cNvPr id="8" name="Picture 7" descr="mini_시작후_프로그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2" y="987552"/>
            <a:ext cx="5112154" cy="5257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1482" y="987552"/>
            <a:ext cx="5112154" cy="5257800"/>
          </a:xfrm>
          <a:prstGeom prst="rect">
            <a:avLst/>
          </a:prstGeom>
          <a:noFill/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08955" y="5204459"/>
            <a:ext cx="917566" cy="310895"/>
          </a:xfrm>
          <a:prstGeom prst="roundRect">
            <a:avLst/>
          </a:prstGeom>
          <a:noFill/>
          <a:ln w="3175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46013" y="4953869"/>
            <a:ext cx="310896" cy="310896"/>
          </a:xfrm>
          <a:prstGeom prst="ellipse">
            <a:avLst/>
          </a:prstGeom>
          <a:solidFill>
            <a:srgbClr val="D92D2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4780" y="5200758"/>
            <a:ext cx="910283" cy="310896"/>
          </a:xfrm>
          <a:prstGeom prst="roundRect">
            <a:avLst/>
          </a:prstGeom>
          <a:noFill/>
          <a:ln w="31750">
            <a:solidFill>
              <a:srgbClr val="039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24071" y="4953869"/>
            <a:ext cx="310896" cy="310896"/>
          </a:xfrm>
          <a:prstGeom prst="ellipse">
            <a:avLst/>
          </a:prstGeom>
          <a:solidFill>
            <a:srgbClr val="0398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115568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EPO 기능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664208"/>
            <a:ext cx="5029200" cy="932688"/>
          </a:xfrm>
          <a:prstGeom prst="roundRect">
            <a:avLst/>
          </a:prstGeom>
          <a:solidFill>
            <a:srgbClr val="FEF3F2"/>
          </a:solidFill>
          <a:ln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1792224"/>
            <a:ext cx="4480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92D20"/>
                </a:solidFill>
                <a:latin typeface="맑은 고딕"/>
              </a:rPr>
              <a:t>1  전체차단(모듈:N)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130552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표시된 N개 모듈에 차단 명령을 순차 전송합니다.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761488"/>
            <a:ext cx="5029200" cy="932688"/>
          </a:xfrm>
          <a:prstGeom prst="roundRect">
            <a:avLst/>
          </a:prstGeom>
          <a:solidFill>
            <a:srgbClr val="ECFDF3"/>
          </a:solidFill>
          <a:ln>
            <a:solidFill>
              <a:srgbClr val="ABE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84848" y="2889504"/>
            <a:ext cx="4480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39855"/>
                </a:solidFill>
                <a:latin typeface="맑은 고딕"/>
              </a:rPr>
              <a:t>2  전체복구(모듈:N)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227832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표시된 N개 인식 모듈에 복구 명령을 순차 전송합니다.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3950208"/>
            <a:ext cx="5029200" cy="162763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4133087"/>
            <a:ext cx="448056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안전 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80560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 작업 전 부하와 현장 안전 상태를 확인합니다.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 확인 팝업의 대상과 작업 종류를 다시 확인합니다.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 긴급 상황 또는 승인된 작업에서만 실행합니다.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C346F"/>
                </a:solidFill>
                <a:latin typeface="맑은 고딕"/>
              </a:rPr>
              <a:t>7. 접속 종료 및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669FF"/>
                </a:solidFill>
                <a:latin typeface="맑은 고딕"/>
              </a:rPr>
              <a:t>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맑은 고딕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68096"/>
            <a:ext cx="11155680" cy="13716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맑은 고딕"/>
              </a:rPr>
              <a:t>TBC1000B Battery Control Mini  |  고객 사용자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정상 종료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938528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847088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제어 작업 완료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57984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진행 중인 SOC 설정 또는 EPO 작업이 없는지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52928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1" y="3054096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962656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접속종료 클릭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273552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시스템 접속 영역의 [접속종료]를 클릭합니다.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68496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1" y="4169663"/>
            <a:ext cx="493776" cy="493776"/>
          </a:xfrm>
          <a:prstGeom prst="roundRect">
            <a:avLst/>
          </a:prstGeom>
          <a:solidFill>
            <a:srgbClr val="2669FF"/>
          </a:solidFill>
          <a:ln>
            <a:solidFill>
              <a:srgbClr val="2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078224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C346F"/>
                </a:solidFill>
                <a:latin typeface="맑은 고딕"/>
              </a:rPr>
              <a:t>READY 복귀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89120"/>
            <a:ext cx="4206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상단 READY와 접속 대기 표시를 확인한 후 프로그램을 종료합니다.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14300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C346F"/>
                </a:solidFill>
                <a:latin typeface="맑은 고딕"/>
              </a:rPr>
              <a:t>문제 발생 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737360"/>
            <a:ext cx="5166360" cy="749808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1965773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 err="1">
                <a:solidFill>
                  <a:srgbClr val="0C346F"/>
                </a:solidFill>
                <a:latin typeface="맑은 고딕"/>
              </a:rPr>
              <a:t>접속</a:t>
            </a:r>
            <a:r>
              <a:rPr sz="13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C346F"/>
                </a:solidFill>
                <a:latin typeface="맑은 고딕"/>
              </a:rPr>
              <a:t>실패</a:t>
            </a:r>
            <a:endParaRPr sz="1300" b="1" dirty="0">
              <a:solidFill>
                <a:srgbClr val="0C346F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08392" y="188595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475467"/>
                </a:solidFill>
                <a:latin typeface="맑은 고딕"/>
              </a:rPr>
              <a:t>IP, SNMP Port,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통신망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및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대상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장비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전원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확인</a:t>
            </a:r>
            <a:endParaRPr sz="1100" b="0" dirty="0">
              <a:solidFill>
                <a:srgbClr val="475467"/>
              </a:solidFill>
              <a:latin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09360" y="2670048"/>
            <a:ext cx="5166360" cy="749808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79" y="2765421"/>
            <a:ext cx="868679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0C346F"/>
                </a:solidFill>
                <a:latin typeface="맑은 고딕"/>
              </a:rPr>
              <a:t>Rack 값 </a:t>
            </a:r>
            <a:endParaRPr lang="en-US" altLang="ko-KR" sz="1300" b="1" dirty="0">
              <a:solidFill>
                <a:srgbClr val="0C346F"/>
              </a:solidFill>
              <a:latin typeface="맑은 고딕"/>
            </a:endParaRPr>
          </a:p>
          <a:p>
            <a:pPr algn="l"/>
            <a:r>
              <a:rPr sz="1300" b="1" dirty="0" err="1">
                <a:solidFill>
                  <a:srgbClr val="0C346F"/>
                </a:solidFill>
                <a:latin typeface="맑은 고딕"/>
              </a:rPr>
              <a:t>미표시</a:t>
            </a:r>
            <a:endParaRPr sz="1300" b="1" dirty="0">
              <a:solidFill>
                <a:srgbClr val="0C346F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26679" y="27432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ONLINE/정상 접속 여부와 최종 업데이트 시각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02736"/>
            <a:ext cx="5166360" cy="749808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822192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 err="1">
                <a:solidFill>
                  <a:srgbClr val="0C346F"/>
                </a:solidFill>
                <a:latin typeface="맑은 고딕"/>
              </a:rPr>
              <a:t>버튼</a:t>
            </a:r>
            <a:r>
              <a:rPr sz="13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C346F"/>
                </a:solidFill>
                <a:latin typeface="맑은 고딕"/>
              </a:rPr>
              <a:t>비활성</a:t>
            </a:r>
            <a:endParaRPr sz="1300" b="1" dirty="0">
              <a:solidFill>
                <a:srgbClr val="0C346F"/>
              </a:solidFill>
              <a:latin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08392" y="3735137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  <a:latin typeface="맑은 고딕"/>
              </a:rPr>
              <a:t>접속 상태, 인식 모듈 수 및 진행 중 작업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535424"/>
            <a:ext cx="5166360" cy="749808"/>
          </a:xfrm>
          <a:prstGeom prst="roundRect">
            <a:avLst/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771301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0C346F"/>
                </a:solidFill>
                <a:latin typeface="맑은 고딕"/>
              </a:rPr>
              <a:t>EPO </a:t>
            </a:r>
            <a:r>
              <a:rPr sz="1300" b="1" dirty="0" err="1">
                <a:solidFill>
                  <a:srgbClr val="0C346F"/>
                </a:solidFill>
                <a:latin typeface="맑은 고딕"/>
              </a:rPr>
              <a:t>실패</a:t>
            </a:r>
            <a:endParaRPr sz="1300" b="1" dirty="0">
              <a:solidFill>
                <a:srgbClr val="0C346F"/>
              </a:solidFill>
              <a:latin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26679" y="4662693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475467"/>
                </a:solidFill>
                <a:latin typeface="맑은 고딕"/>
              </a:rPr>
              <a:t>실패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모듈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번호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확인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후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현장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담당자에게</a:t>
            </a:r>
            <a:r>
              <a:rPr sz="1100" b="0" dirty="0">
                <a:solidFill>
                  <a:srgbClr val="47546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475467"/>
                </a:solidFill>
                <a:latin typeface="맑은 고딕"/>
              </a:rPr>
              <a:t>전달</a:t>
            </a:r>
            <a:endParaRPr sz="1100" b="0" dirty="0">
              <a:solidFill>
                <a:srgbClr val="475467"/>
              </a:solidFill>
              <a:latin typeface="맑은 고딕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09360" y="5532120"/>
            <a:ext cx="5166360" cy="475488"/>
          </a:xfrm>
          <a:prstGeom prst="roundRect">
            <a:avLst/>
          </a:prstGeom>
          <a:solidFill>
            <a:srgbClr val="EEF4FF"/>
          </a:solidFill>
          <a:ln>
            <a:solidFill>
              <a:srgbClr val="B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5632704"/>
            <a:ext cx="4709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 err="1">
                <a:solidFill>
                  <a:srgbClr val="0C346F"/>
                </a:solidFill>
                <a:latin typeface="맑은 고딕"/>
              </a:rPr>
              <a:t>문의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시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화면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캡처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,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발생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시각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, IP,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실패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모듈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번호를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함께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C346F"/>
                </a:solidFill>
                <a:latin typeface="맑은 고딕"/>
              </a:rPr>
              <a:t>전달하십시오</a:t>
            </a:r>
            <a:r>
              <a:rPr sz="1000" b="1" dirty="0">
                <a:solidFill>
                  <a:srgbClr val="0C346F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698</Words>
  <Application>Microsoft Office PowerPoint</Application>
  <PresentationFormat>와이드스크린</PresentationFormat>
  <Paragraphs>159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TBC1000B Battery Control Mini 고객 사용자 매뉴얼</dc:title>
  <dc:subject>시스템 접속, 상태 확인, SOC 설정 및 EPO 사용 방법</dc:subject>
  <dc:creator>PANTECH C&amp;I Engineering</dc:creator>
  <cp:keywords>TBC1000B, MiniGUI, 사용자 매뉴얼, EPO, SOC</cp:keywords>
  <dc:description>generated using python-pptx</dc:description>
  <cp:lastModifiedBy>Administrator</cp:lastModifiedBy>
  <cp:revision>11</cp:revision>
  <dcterms:created xsi:type="dcterms:W3CDTF">2013-01-27T09:14:16Z</dcterms:created>
  <dcterms:modified xsi:type="dcterms:W3CDTF">2026-08-10T06:05:31Z</dcterms:modified>
  <cp:category/>
</cp:coreProperties>
</file>