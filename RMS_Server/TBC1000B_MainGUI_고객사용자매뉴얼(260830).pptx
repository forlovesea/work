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293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98188-E282-4C21-BDEB-886E36FDA083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E2C4C-190E-4C31-87AB-222CFCFA4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4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E2C4C-190E-4C31-87AB-222CFCFA4CC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2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E2C4C-190E-4C31-87AB-222CFCFA4CC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35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E2C4C-190E-4C31-87AB-222CFCFA4CC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46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E2C4C-190E-4C31-87AB-222CFCFA4CC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93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0C346F"/>
          </a:solidFill>
          <a:ln>
            <a:solidFill>
              <a:srgbClr val="0C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TBC1000B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72768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4CDFF"/>
                </a:solidFill>
                <a:latin typeface="맑은 고딕"/>
              </a:rPr>
              <a:t>Battery 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31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Main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1847088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C346F"/>
                </a:solidFill>
                <a:latin typeface="맑은 고딕"/>
              </a:rPr>
              <a:t>고객 사용자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670048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75467"/>
                </a:solidFill>
                <a:latin typeface="맑은 고딕"/>
              </a:rPr>
              <a:t>시스템 접속 · 상태 모니터링 · 알람 · 데이터 기록 · 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73552"/>
            <a:ext cx="960120" cy="6400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354787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69FF"/>
                </a:solidFill>
                <a:latin typeface="맑은 고딕"/>
              </a:rPr>
              <a:t>Base SNMPv2  v3.2.1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929131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667085"/>
                </a:solidFill>
                <a:latin typeface="맑은 고딕"/>
              </a:rPr>
              <a:t>2026. 08</a:t>
            </a:r>
            <a:r>
              <a:rPr lang="en-US" altLang="ko-KR" sz="1100" b="0" dirty="0">
                <a:solidFill>
                  <a:srgbClr val="667085"/>
                </a:solidFill>
                <a:latin typeface="맑은 고딕"/>
              </a:rPr>
              <a:t>. 30</a:t>
            </a:r>
            <a:endParaRPr sz="1100" b="0" dirty="0">
              <a:solidFill>
                <a:srgbClr val="667085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34840" y="5925312"/>
            <a:ext cx="6858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92D20"/>
                </a:solidFill>
                <a:latin typeface="맑은 고딕"/>
              </a:rPr>
              <a:t>EPO 및 설정 변경 기능은 승인된 운영자만 사용하십시오.</a:t>
            </a:r>
          </a:p>
        </p:txBody>
      </p:sp>
      <p:sp>
        <p:nvSpPr>
          <p:cNvPr id="20" name="SKT accent red">
            <a:extLst>
              <a:ext uri="{FF2B5EF4-FFF2-40B4-BE49-F238E27FC236}">
                <a16:creationId xmlns:a16="http://schemas.microsoft.com/office/drawing/2014/main" id="{177F4803-45E0-4E4D-99C9-E9096C15FFCB}"/>
              </a:ext>
            </a:extLst>
          </p:cNvPr>
          <p:cNvSpPr/>
          <p:nvPr/>
        </p:nvSpPr>
        <p:spPr>
          <a:xfrm>
            <a:off x="0" y="-6858"/>
            <a:ext cx="9160684" cy="411479"/>
          </a:xfrm>
          <a:prstGeom prst="rect">
            <a:avLst/>
          </a:prstGeom>
          <a:solidFill>
            <a:srgbClr val="EA002C"/>
          </a:solidFill>
          <a:ln>
            <a:solidFill>
              <a:srgbClr val="EA0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KT accent orange">
            <a:extLst>
              <a:ext uri="{FF2B5EF4-FFF2-40B4-BE49-F238E27FC236}">
                <a16:creationId xmlns:a16="http://schemas.microsoft.com/office/drawing/2014/main" id="{95FEDEA4-A460-415B-B6F8-FC2B66924373}"/>
              </a:ext>
            </a:extLst>
          </p:cNvPr>
          <p:cNvSpPr/>
          <p:nvPr/>
        </p:nvSpPr>
        <p:spPr>
          <a:xfrm>
            <a:off x="9162610" y="0"/>
            <a:ext cx="3029085" cy="397764"/>
          </a:xfrm>
          <a:prstGeom prst="rect">
            <a:avLst/>
          </a:prstGeom>
          <a:solidFill>
            <a:srgbClr val="FF7000"/>
          </a:solidFill>
          <a:ln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ntech accent">
            <a:extLst>
              <a:ext uri="{FF2B5EF4-FFF2-40B4-BE49-F238E27FC236}">
                <a16:creationId xmlns:a16="http://schemas.microsoft.com/office/drawing/2014/main" id="{D335E1BA-F245-4CEA-A6EE-01E2D10C6835}"/>
              </a:ext>
            </a:extLst>
          </p:cNvPr>
          <p:cNvSpPr/>
          <p:nvPr/>
        </p:nvSpPr>
        <p:spPr>
          <a:xfrm>
            <a:off x="0" y="6551676"/>
            <a:ext cx="12191695" cy="306324"/>
          </a:xfrm>
          <a:prstGeom prst="rect">
            <a:avLst/>
          </a:prstGeom>
          <a:solidFill>
            <a:srgbClr val="008FAE"/>
          </a:solidFill>
          <a:ln>
            <a:solidFill>
              <a:srgbClr val="00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BE685E2-664E-4BC1-AAC2-8BC776C3D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135" y="458724"/>
            <a:ext cx="2316735" cy="11374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A4FCA79-83F6-4BFA-8B74-068C2079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550" y="5889290"/>
            <a:ext cx="2139665" cy="639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사용 절차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097280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8" y="1298448"/>
            <a:ext cx="621793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188720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접속 설정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499616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IP, Port, GET/SET/TRAP Community와 TRAP Port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097280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298448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188720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설치 정보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499616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설치 장소·축전지명·설비 정보 입력 후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87168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59" y="2688336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578608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접속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889503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접속상태 녹색 표시와 최종 업데이트 시각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487168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92240" y="2688336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578608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상태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889503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시스템 요약, 모듈 상태, 고장 정보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77056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58" y="4078224"/>
            <a:ext cx="621794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968496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알람·상세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279392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TRAP 로그, 알람 목록, 전체모듈정보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3877056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92240" y="4078224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3968496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기록·제어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279392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운전 데이터 기록 및 승인된 설정/EPO 수행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413248"/>
            <a:ext cx="10899648" cy="658368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104790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맑은 고딕"/>
              </a:rPr>
              <a:t>안전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60720"/>
            <a:ext cx="10479024" cy="237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차단·복구 및 충전 제한값 변경 전 부하 상태와 현장 작업 승인을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1. 메인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4777"/>
            <a:ext cx="8366760" cy="48633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184777"/>
            <a:ext cx="8366760" cy="4863348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9938" y="1315367"/>
            <a:ext cx="8308219" cy="373757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8498" y="1223927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938" y="1725149"/>
            <a:ext cx="8308219" cy="364751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498" y="1633709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969" y="2152944"/>
            <a:ext cx="2656829" cy="1080744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7543" y="2061504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8817" y="2152944"/>
            <a:ext cx="5516297" cy="1058228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167377" y="2061504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938" y="3287725"/>
            <a:ext cx="7024836" cy="1666147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38498" y="3196285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7290" y="3287725"/>
            <a:ext cx="1251861" cy="1666147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85850" y="3196285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938" y="5012413"/>
            <a:ext cx="8294710" cy="963663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8498" y="4920973"/>
            <a:ext cx="292608" cy="292608"/>
          </a:xfrm>
          <a:prstGeom prst="ellipse">
            <a:avLst/>
          </a:prstGeom>
          <a:solidFill>
            <a:srgbClr val="D92D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987552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C346F"/>
                </a:solidFill>
                <a:latin typeface="맑은 고딕"/>
              </a:rPr>
              <a:t>화면 영역 안내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1481328"/>
            <a:ext cx="420624" cy="38404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1472184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시스템 접속 설정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2112264"/>
            <a:ext cx="420624" cy="38404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2103120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설치 및 설비 정보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2743200"/>
            <a:ext cx="420624" cy="384048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734056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시스템 요약 정보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2" y="3374136"/>
            <a:ext cx="420624" cy="38404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364992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SNMP Trap 로그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2" y="4005072"/>
            <a:ext cx="420624" cy="38404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95928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모듈 상태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4636008"/>
            <a:ext cx="420624" cy="384048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4626864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모듈 설치 순서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5266944"/>
            <a:ext cx="420624" cy="384048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5257800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고장 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2. 시스템 접속 및 설치 정보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2259"/>
            <a:ext cx="6537960" cy="7565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592259"/>
            <a:ext cx="6537960" cy="756545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0514" y="1680229"/>
            <a:ext cx="6499253" cy="309655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9074" y="1588789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514" y="2010998"/>
            <a:ext cx="6499253" cy="285024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9074" y="1919558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24128"/>
            <a:ext cx="43159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4072" y="1225296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1115568"/>
            <a:ext cx="336499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접속 값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1426464"/>
            <a:ext cx="3364991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IP·Port와 GET/SET/TRAP Community, TRAP Port를 확인합니다.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084831"/>
            <a:ext cx="43159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34072" y="2286000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2176272"/>
            <a:ext cx="336499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설치 정보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487168"/>
            <a:ext cx="3364991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설치 장소, 축전지명 및 설비 정보를 입력하고 [저장]을 클릭합니다.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10128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0" y="3511296"/>
            <a:ext cx="621793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3401568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접속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12464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[접속시작] 클릭 후 접속상태가 녹색인지 확인합니다.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3310128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72782" y="3511296"/>
            <a:ext cx="621793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3401568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C346F"/>
                </a:solidFill>
                <a:latin typeface="맑은 고딕"/>
              </a:rPr>
              <a:t>최종 업데이트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3712464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수신 시각이 현재 시각에 맞게 계속 갱신되는지 확인합니다.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36008"/>
            <a:ext cx="10698480" cy="713232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4727448"/>
            <a:ext cx="102778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79009"/>
                </a:solidFill>
                <a:latin typeface="맑은 고딕"/>
              </a:rPr>
              <a:t>접속 실패 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983480"/>
            <a:ext cx="10277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대상 장비 전원, 네트워크 연결, IP/Port, Community 값을 점검한 뒤 다시 접속합니다.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04688"/>
            <a:ext cx="10698480" cy="603504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" y="5596127"/>
            <a:ext cx="102778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맑은 고딕"/>
              </a:rPr>
              <a:t>보안 주의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5852159"/>
            <a:ext cx="1027785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Community 문자열은 접속 권한 정보입니다. 화면 캡처나 외부 전달 자료에서 노출되지 않도록 관리하십시오.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3. 시스템 요약 정보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360768"/>
            <a:ext cx="5989320" cy="24199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19" y="2360768"/>
            <a:ext cx="5989320" cy="2419927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19" y="2285788"/>
            <a:ext cx="5948987" cy="2343661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8203" y="2128132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1529" y="3621147"/>
            <a:ext cx="1260378" cy="483985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00089" y="3529707"/>
            <a:ext cx="292608" cy="292608"/>
          </a:xfrm>
          <a:prstGeom prst="ellipse">
            <a:avLst/>
          </a:prstGeom>
          <a:solidFill>
            <a:srgbClr val="D92D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09728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C346F"/>
                </a:solidFill>
                <a:latin typeface="맑은 고딕"/>
              </a:rPr>
              <a:t>주요 확인 항목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64592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75467"/>
                </a:solidFill>
                <a:latin typeface="맑은 고딕"/>
              </a:defRPr>
            </a:pPr>
            <a:r>
              <a:t>•  Rack 전압, 전류와 SOC 충전율</a:t>
            </a:r>
          </a:p>
          <a:p>
            <a:pPr>
              <a:spcAft>
                <a:spcPts val="700"/>
              </a:spcAft>
              <a:defRPr sz="1400">
                <a:solidFill>
                  <a:srgbClr val="475467"/>
                </a:solidFill>
                <a:latin typeface="맑은 고딕"/>
              </a:defRPr>
            </a:pPr>
            <a:r>
              <a:t>•  Max/Min/Avg 전압 및 온도</a:t>
            </a:r>
          </a:p>
          <a:p>
            <a:pPr>
              <a:spcAft>
                <a:spcPts val="700"/>
              </a:spcAft>
              <a:defRPr sz="1400">
                <a:solidFill>
                  <a:srgbClr val="475467"/>
                </a:solidFill>
                <a:latin typeface="맑은 고딕"/>
              </a:defRPr>
            </a:pPr>
            <a:r>
              <a:t>•  방전 횟수와 충전 제한 설정값</a:t>
            </a:r>
          </a:p>
          <a:p>
            <a:pPr>
              <a:spcAft>
                <a:spcPts val="700"/>
              </a:spcAft>
              <a:defRPr sz="1400">
                <a:solidFill>
                  <a:srgbClr val="475467"/>
                </a:solidFill>
                <a:latin typeface="맑은 고딕"/>
              </a:defRPr>
            </a:pPr>
            <a:r>
              <a:t>•  과전압·저온·과전류 차단 상태</a:t>
            </a:r>
          </a:p>
          <a:p>
            <a:pPr>
              <a:spcAft>
                <a:spcPts val="700"/>
              </a:spcAft>
              <a:defRPr sz="1400">
                <a:solidFill>
                  <a:srgbClr val="475467"/>
                </a:solidFill>
                <a:latin typeface="맑은 고딕"/>
              </a:defRPr>
            </a:pPr>
            <a:r>
              <a:t>•  설비번호, 운영 관리자, 제조사 등 기본정보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4315968"/>
            <a:ext cx="4663440" cy="868680"/>
          </a:xfrm>
          <a:prstGeom prst="roundRect">
            <a:avLst/>
          </a:prstGeom>
          <a:solidFill>
            <a:srgbClr val="ECFDF3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8584" y="4407407"/>
            <a:ext cx="4242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39855"/>
                </a:solidFill>
                <a:latin typeface="맑은 고딕"/>
              </a:rPr>
              <a:t>색상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4663440"/>
            <a:ext cx="4242816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녹색은 정상 상태입니다. 비정상 색상이나 '-' 값이 보이면 접속 상태와 해당 항목을 점검합니다.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5349240"/>
            <a:ext cx="4663440" cy="749808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8584" y="5440679"/>
            <a:ext cx="4242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맑은 고딕"/>
              </a:rPr>
              <a:t>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5696712"/>
            <a:ext cx="4242816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[차단]/[복구]는 전체 모듈 제어 기능입니다. 작업 승인 후에만 사용합니다.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4. 모듈 상태 및 고장 정보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4549"/>
            <a:ext cx="7406640" cy="38289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490472"/>
            <a:ext cx="7406640" cy="3852979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490473"/>
            <a:ext cx="6269320" cy="2368532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6337" y="1359903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90257"/>
            <a:ext cx="7394583" cy="1313381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0622" y="3791236"/>
            <a:ext cx="292608" cy="292608"/>
          </a:xfrm>
          <a:prstGeom prst="ellipse">
            <a:avLst/>
          </a:prstGeom>
          <a:solidFill>
            <a:srgbClr val="D92D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6636" y="107899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C346F"/>
                </a:solidFill>
                <a:latin typeface="맑은 고딕"/>
              </a:rPr>
              <a:t>모듈 상태 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772" y="1517904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75467"/>
                </a:solidFill>
                <a:latin typeface="맑은 고딕"/>
              </a:defRPr>
            </a:pPr>
            <a:r>
              <a:t>•  모듈 전압</a:t>
            </a:r>
          </a:p>
          <a:p>
            <a:pPr>
              <a:spcAft>
                <a:spcPts val="700"/>
              </a:spcAft>
              <a:defRPr sz="1300">
                <a:solidFill>
                  <a:srgbClr val="475467"/>
                </a:solidFill>
                <a:latin typeface="맑은 고딕"/>
              </a:defRPr>
            </a:pPr>
            <a:r>
              <a:t>•  셀 전압 Max/Min</a:t>
            </a:r>
          </a:p>
          <a:p>
            <a:pPr>
              <a:spcAft>
                <a:spcPts val="700"/>
              </a:spcAft>
              <a:defRPr sz="1300">
                <a:solidFill>
                  <a:srgbClr val="475467"/>
                </a:solidFill>
                <a:latin typeface="맑은 고딕"/>
              </a:defRPr>
            </a:pPr>
            <a:r>
              <a:t>•  셀 온도 Max/Min</a:t>
            </a:r>
          </a:p>
          <a:p>
            <a:pPr>
              <a:spcAft>
                <a:spcPts val="700"/>
              </a:spcAft>
              <a:defRPr sz="1300">
                <a:solidFill>
                  <a:srgbClr val="475467"/>
                </a:solidFill>
                <a:latin typeface="맑은 고딕"/>
              </a:defRPr>
            </a:pPr>
            <a:r>
              <a:t>•  경보 및 통신상태</a:t>
            </a:r>
          </a:p>
          <a:p>
            <a:pPr>
              <a:spcAft>
                <a:spcPts val="700"/>
              </a:spcAft>
              <a:defRPr sz="1300">
                <a:solidFill>
                  <a:srgbClr val="475467"/>
                </a:solidFill>
                <a:latin typeface="맑은 고딕"/>
              </a:defRPr>
            </a:pPr>
            <a:r>
              <a:t>•  상세정보와 개별 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636" y="3275159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C346F"/>
                </a:solidFill>
                <a:latin typeface="맑은 고딕"/>
              </a:rPr>
              <a:t>경보 색상 기준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9203" y="3768935"/>
            <a:ext cx="1417320" cy="34747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9203" y="3778079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Critical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6835" y="3768935"/>
            <a:ext cx="1417320" cy="347472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46835" y="3778079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Major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9203" y="4244423"/>
            <a:ext cx="1417320" cy="347472"/>
          </a:xfrm>
          <a:prstGeom prst="roundRect">
            <a:avLst/>
          </a:prstGeom>
          <a:solidFill>
            <a:srgbClr val="F7C948"/>
          </a:solidFill>
          <a:ln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9203" y="4253567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C346F"/>
                </a:solidFill>
                <a:latin typeface="맑은 고딕"/>
              </a:rPr>
              <a:t>Minor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6835" y="4244423"/>
            <a:ext cx="1417320" cy="347472"/>
          </a:xfrm>
          <a:prstGeom prst="roundRect">
            <a:avLst/>
          </a:prstGeom>
          <a:solidFill>
            <a:srgbClr val="74C0FC"/>
          </a:solidFill>
          <a:ln>
            <a:solidFill>
              <a:srgbClr val="74C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6835" y="4253567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C346F"/>
                </a:solidFill>
                <a:latin typeface="맑은 고딕"/>
              </a:rPr>
              <a:t>Warning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819" y="5144307"/>
            <a:ext cx="3474720" cy="914400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4131" y="5235747"/>
            <a:ext cx="30540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맑은 고딕"/>
              </a:rPr>
              <a:t>고장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131" y="5491779"/>
            <a:ext cx="305409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467"/>
                </a:solidFill>
                <a:latin typeface="맑은 고딕"/>
              </a:rPr>
              <a:t>하단 표에서 고장 모듈·셀 번호와 전압·온도를 확인합니다. 원인 조치 전 임의 삭제하지 마십시오.</a:t>
            </a:r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40C600E0-6608-4D79-841C-031442CF2E18}"/>
              </a:ext>
            </a:extLst>
          </p:cNvPr>
          <p:cNvSpPr/>
          <p:nvPr/>
        </p:nvSpPr>
        <p:spPr>
          <a:xfrm>
            <a:off x="8193819" y="1490472"/>
            <a:ext cx="3551567" cy="3273552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C346F"/>
                </a:solidFill>
                <a:latin typeface="맑은 고딕"/>
              </a:rPr>
              <a:t>5. 전체 모듈 상세정보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669FF"/>
                </a:solidFill>
                <a:latin typeface="맑은 고딕"/>
              </a:rPr>
              <a:t>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맑은 고딕"/>
              </a:rPr>
              <a:t>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8135"/>
            <a:ext cx="11155680" cy="4418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968135"/>
            <a:ext cx="11155680" cy="4418808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779" y="5532120"/>
            <a:ext cx="2688335" cy="566928"/>
          </a:xfrm>
          <a:prstGeom prst="roundRect">
            <a:avLst/>
          </a:prstGeom>
          <a:solidFill>
            <a:srgbClr val="EEF4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5592" y="5623559"/>
            <a:ext cx="2093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2669FF"/>
                </a:solidFill>
                <a:latin typeface="맑은 고딕"/>
              </a:rPr>
              <a:t>열기</a:t>
            </a:r>
            <a:endParaRPr sz="1200" b="1" dirty="0">
              <a:solidFill>
                <a:srgbClr val="2669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5356" y="5866209"/>
            <a:ext cx="268833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475467"/>
                </a:solidFill>
                <a:latin typeface="맑은 고딕"/>
              </a:rPr>
              <a:t>메인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화면의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[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전체모듈정보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]를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클릭합니다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7" y="5532120"/>
            <a:ext cx="3776473" cy="566928"/>
          </a:xfrm>
          <a:prstGeom prst="roundRect">
            <a:avLst/>
          </a:prstGeom>
          <a:solidFill>
            <a:srgbClr val="ECFDF3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3157" y="5623559"/>
            <a:ext cx="26883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39855"/>
                </a:solidFill>
                <a:latin typeface="맑은 고딕"/>
              </a:rPr>
              <a:t>식별</a:t>
            </a:r>
            <a:r>
              <a:rPr sz="1200" b="1" dirty="0">
                <a:solidFill>
                  <a:srgbClr val="039855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39855"/>
                </a:solidFill>
                <a:latin typeface="맑은 고딕"/>
              </a:rPr>
              <a:t>정보</a:t>
            </a:r>
            <a:endParaRPr sz="1200" b="1" dirty="0">
              <a:solidFill>
                <a:srgbClr val="039855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3155" y="5879592"/>
            <a:ext cx="3566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475467"/>
                </a:solidFill>
                <a:latin typeface="맑은 고딕"/>
              </a:rPr>
              <a:t>모듈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번호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SW버전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, Equip ID,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모델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바코드를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확인합니다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1803" y="5532120"/>
            <a:ext cx="4471417" cy="566928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5" y="5644274"/>
            <a:ext cx="44714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F79009"/>
                </a:solidFill>
                <a:latin typeface="맑은 고딕"/>
              </a:rPr>
              <a:t>운전</a:t>
            </a:r>
            <a:r>
              <a:rPr sz="1200" b="1" dirty="0">
                <a:solidFill>
                  <a:srgbClr val="F79009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79009"/>
                </a:solidFill>
                <a:latin typeface="맑은 고딕"/>
              </a:rPr>
              <a:t>정보</a:t>
            </a:r>
            <a:endParaRPr sz="1200" b="1" dirty="0">
              <a:solidFill>
                <a:srgbClr val="F79009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32905" y="5879592"/>
            <a:ext cx="477621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475467"/>
                </a:solidFill>
                <a:latin typeface="맑은 고딕"/>
              </a:rPr>
              <a:t>전압·전류·상태·SOC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SOH와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각 셀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전압·온도를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좌우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스크롤로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475467"/>
                </a:solidFill>
                <a:latin typeface="맑은 고딕"/>
              </a:rPr>
              <a:t>확인합니다</a:t>
            </a:r>
            <a:r>
              <a:rPr sz="1000" b="0" dirty="0">
                <a:solidFill>
                  <a:srgbClr val="475467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6. 모듈 설치 순서 설정 — 모듈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28" y="960120"/>
            <a:ext cx="4780759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9728" y="960120"/>
            <a:ext cx="4780759" cy="544068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5050" y="1268083"/>
            <a:ext cx="696583" cy="2419709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3610" y="1176643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7546" y="1590710"/>
            <a:ext cx="3108960" cy="1657134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186106" y="1499270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2105" y="6136831"/>
            <a:ext cx="2273060" cy="175978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080665" y="6045391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09728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선택 절차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682496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6478" y="1883664"/>
            <a:ext cx="621793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1773936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실제 위치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084832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좌측 Rack 그림의 01~10 위치를 기준으로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2761488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26479" y="2962656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852928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모듈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163824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드롭다운 목록을 펼치고 모듈 번호와 바코드를 확인하여 선택합니다.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3840480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26478" y="4041648"/>
            <a:ext cx="621793" cy="475488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931920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설정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242816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필요한 위치를 모두 지정한 뒤 [저장]을 클릭합니다.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61888" y="5102352"/>
            <a:ext cx="5257800" cy="804672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72200" y="5193792"/>
            <a:ext cx="4837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선택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449824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바코드로 실물 모듈을 대조하십시오. 같은 모듈은 두 위치에 중복 선택할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231176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6. 모듈 설치 순서 설정 — 확인 및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55664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28" y="960120"/>
            <a:ext cx="4780759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9728" y="960120"/>
            <a:ext cx="4780759" cy="544068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77546" y="1605375"/>
            <a:ext cx="3108960" cy="2023756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86106" y="1513935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105" y="6136831"/>
            <a:ext cx="2273060" cy="175978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80665" y="6045391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717" y="6109935"/>
            <a:ext cx="2229066" cy="228064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6277" y="6045391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09728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저장 전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682496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6479" y="1883664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1773936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전체 위치 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084832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10번부터 1번까지 모듈·바코드의 중복과 누락을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2761488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26479" y="2962656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852928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163824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설정이 정확하면 [저장]을 클릭하여 설치 순서를 적용합니다.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3840480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26478" y="4041648"/>
            <a:ext cx="621793" cy="475488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931920"/>
            <a:ext cx="43068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초기화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242816"/>
            <a:ext cx="430682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전체 재설정이 필요한 경우에만 [초기화]를 사용합니다.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61888" y="5102352"/>
            <a:ext cx="5257800" cy="804672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72200" y="5193792"/>
            <a:ext cx="4837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초기화 주의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449824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초기화를 실행하면 저장된 설치 순서가 모두 해제되므로 작업 전에 반드시 확인하십시오.</a:t>
            </a:r>
          </a:p>
        </p:txBody>
      </p:sp>
    </p:spTree>
    <p:extLst>
      <p:ext uri="{BB962C8B-B14F-4D97-AF65-F5344CB8AC3E}">
        <p14:creationId xmlns:p14="http://schemas.microsoft.com/office/powerpoint/2010/main" val="3953014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6. 모듈 설치 순서 설정 — 적용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30238"/>
            <a:ext cx="38404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7675"/>
            <a:ext cx="7635240" cy="44381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447675"/>
            <a:ext cx="7635240" cy="4438137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54656" y="3429000"/>
            <a:ext cx="1150628" cy="1429465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680336" y="3320186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0972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  메인 화면 설치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627632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Rack 10번부터 1번까지 순서 확인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각 위치의 바코드 확인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괄호 안 모듈 번호 확인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빨간색: 알람 발생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갈색: 바코드 불일치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4224528"/>
            <a:ext cx="3273552" cy="914400"/>
          </a:xfrm>
          <a:prstGeom prst="roundRect">
            <a:avLst/>
          </a:prstGeom>
          <a:solidFill>
            <a:srgbClr val="ECFDF3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13064" y="4315968"/>
            <a:ext cx="2852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39855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정상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4572000"/>
            <a:ext cx="285292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저장한 위치·바코드·모듈 번호가 우측 '모듈 설치 순서'에 동일하게 표시되어야 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5321808"/>
            <a:ext cx="3273552" cy="749808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13064" y="5413248"/>
            <a:ext cx="2852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92D2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불일치 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5669280"/>
            <a:ext cx="2852928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실물 바코드를 다시 확인한 후 [모듈 설치 순서 설정]에서 해당 위치를 수정합니다.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7514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7. 알람 및 SNMP Trap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ALARM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9144" y="6430238"/>
            <a:ext cx="310896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0826"/>
            <a:ext cx="7452360" cy="46536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500826"/>
            <a:ext cx="7452360" cy="4598222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34849" y="2399281"/>
            <a:ext cx="4908123" cy="766092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42241" y="2307124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7841" y="2041398"/>
            <a:ext cx="723512" cy="140953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90179" y="1939442"/>
            <a:ext cx="292608" cy="292608"/>
          </a:xfrm>
          <a:prstGeom prst="ellipse">
            <a:avLst/>
          </a:prstGeom>
          <a:solidFill>
            <a:srgbClr val="D92D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8004" y="2453428"/>
            <a:ext cx="340931" cy="108295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168935" y="2280381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097280"/>
            <a:ext cx="3108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  TRAP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581912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수신 시간과 Trap OID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Alarm 및 Level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Equip ID/Name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최대 1,000개 로그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3401568"/>
            <a:ext cx="3401568" cy="822960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3493008"/>
            <a:ext cx="29809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92D2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  발생된 알람 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40"/>
            <a:ext cx="29809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괄호 안 숫자는 현재 발생 알람 수입니다. 버튼을 눌러 목록을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4416552"/>
            <a:ext cx="3401568" cy="713232"/>
          </a:xfrm>
          <a:prstGeom prst="roundRect">
            <a:avLst/>
          </a:prstGeom>
          <a:solidFill>
            <a:srgbClr val="ECFDF3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66760" y="4507992"/>
            <a:ext cx="29809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39855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  재전송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764024"/>
            <a:ext cx="29809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누락이 의심되는 경우에만 [재전송요청]을 사용합니다.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5321808"/>
            <a:ext cx="3401568" cy="713232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6760" y="5402765"/>
            <a:ext cx="298094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4.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로그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삭제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F7900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5669280"/>
            <a:ext cx="29809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확인 및 기록 완료 후에만 TRAP 로그 전체 삭제를 실행합니다.</a:t>
            </a:r>
          </a:p>
        </p:txBody>
      </p:sp>
      <p:sp>
        <p:nvSpPr>
          <p:cNvPr id="27" name="Oval 14">
            <a:extLst>
              <a:ext uri="{FF2B5EF4-FFF2-40B4-BE49-F238E27FC236}">
                <a16:creationId xmlns:a16="http://schemas.microsoft.com/office/drawing/2014/main" id="{E3E374C5-4377-48E1-A3D6-5493A2E53878}"/>
              </a:ext>
            </a:extLst>
          </p:cNvPr>
          <p:cNvSpPr/>
          <p:nvPr/>
        </p:nvSpPr>
        <p:spPr>
          <a:xfrm>
            <a:off x="4800947" y="3168997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FFFFFF"/>
                </a:solidFill>
                <a:latin typeface="맑은 고딕"/>
              </a:rPr>
              <a:t>4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122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8. 알람 표시 및 수신 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ALARM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430238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5749" y="1051560"/>
            <a:ext cx="6030021" cy="96012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알람 레벨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4983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CRIT: Critical 알람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MAJOR: Major 알람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MINOR: Minor 알람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WARN: Warning 알람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체크된 등급을 기준으로 알림을 사용합니다.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67712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상태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743200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접속상태: 녹색이면 정상 접속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Timeout: 통신 실패 누적 상태 확인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스피커 아이콘: 알람 음향 상태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TX/RX: 송수신 동작 표시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>
                <a:solidFill>
                  <a:srgbClr val="475467"/>
                </a:solidFill>
                <a:latin typeface="맑은 고딕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CPU/MEM/TRAP/QUEUE: 프로그램 처리 상태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30368"/>
            <a:ext cx="10716768" cy="749808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5321807"/>
            <a:ext cx="102961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92D2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운영 권고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577840"/>
            <a:ext cx="10296144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CRIT·MAJOR 알람은 항상 활성화하고, 현장 정책에 따라 MINOR·WARN 사용 여부를 결정합니다.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1C4BEAF-71A1-4888-A0A9-4DF396D9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3" y="1077468"/>
            <a:ext cx="6005098" cy="9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2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9. 운전 데이터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DATA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44692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9659" y="6416522"/>
            <a:ext cx="360381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3" y="960120"/>
            <a:ext cx="3677149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2893" y="960120"/>
            <a:ext cx="3677149" cy="544068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1742" y="1615630"/>
            <a:ext cx="3320690" cy="657755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58761" y="1510292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1742" y="2648606"/>
            <a:ext cx="3320690" cy="1669725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8761" y="2476481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742" y="4374615"/>
            <a:ext cx="3320690" cy="1247604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8761" y="4202490"/>
            <a:ext cx="292608" cy="292608"/>
          </a:xfrm>
          <a:prstGeom prst="ellipse">
            <a:avLst/>
          </a:prstGeom>
          <a:solidFill>
            <a:srgbClr val="F790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42" y="5977267"/>
            <a:ext cx="3320690" cy="272034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8761" y="5825314"/>
            <a:ext cx="292608" cy="292608"/>
          </a:xfrm>
          <a:prstGeom prst="ellipse">
            <a:avLst/>
          </a:prstGeom>
          <a:solidFill>
            <a:srgbClr val="0398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078992"/>
            <a:ext cx="6126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기록 설정 절차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1627632"/>
            <a:ext cx="608076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992624" y="1828800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1719072"/>
            <a:ext cx="51297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주기와 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2029968"/>
            <a:ext cx="512978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기록 간격 및 기록 기간을 선택합니다.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2688336"/>
            <a:ext cx="608076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992624" y="2889504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2779776"/>
            <a:ext cx="51297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Excel 항목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090672"/>
            <a:ext cx="512978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필요 항목을 체크합니다. 기록시각과 모듈 번호는 항상 저장됩니다.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8032" y="3749039"/>
            <a:ext cx="608076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992624" y="3950207"/>
            <a:ext cx="621792" cy="475488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3840479"/>
            <a:ext cx="51297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용량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4416" y="4151376"/>
            <a:ext cx="512978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예상 기록량, 권장 공간, 현재 여유 공간과 저장 위치를 확인합니다.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8032" y="4809744"/>
            <a:ext cx="608076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992624" y="5010912"/>
            <a:ext cx="621792" cy="475488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4416" y="4901183"/>
            <a:ext cx="51297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기록 시작/중지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4416" y="5212080"/>
            <a:ext cx="512978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[기록시작] 후 상태 문구를 확인하고, 종료 시 [기록중지]를 누릅니다.</a:t>
            </a:r>
          </a:p>
        </p:txBody>
      </p:sp>
    </p:spTree>
    <p:extLst>
      <p:ext uri="{BB962C8B-B14F-4D97-AF65-F5344CB8AC3E}">
        <p14:creationId xmlns:p14="http://schemas.microsoft.com/office/powerpoint/2010/main" val="316647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10. EPO 및 충전 제한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6" y="6416522"/>
            <a:ext cx="34747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80038"/>
            <a:ext cx="6629400" cy="2640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080038"/>
            <a:ext cx="6629400" cy="2640523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23060" y="2455663"/>
            <a:ext cx="1235793" cy="550577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67685" y="2265092"/>
            <a:ext cx="292608" cy="292608"/>
          </a:xfrm>
          <a:prstGeom prst="ellipse">
            <a:avLst/>
          </a:prstGeom>
          <a:solidFill>
            <a:srgbClr val="D92D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3848" y="3039750"/>
            <a:ext cx="1121217" cy="488631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68769" y="2952344"/>
            <a:ext cx="292608" cy="292608"/>
          </a:xfrm>
          <a:prstGeom prst="ellipse">
            <a:avLst/>
          </a:prstGeom>
          <a:solidFill>
            <a:srgbClr val="266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1078992"/>
            <a:ext cx="39776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제어 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1572768"/>
            <a:ext cx="4069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현재 부하와 축전지 운전 상태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대상 시스템과 모듈 번호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현장 작업 승인 및 안전 조치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300">
                <a:solidFill>
                  <a:srgbClr val="475467"/>
                </a:solidFill>
                <a:latin typeface="맑은 고딕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•  확인 팝업의 작업 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33087"/>
            <a:ext cx="5349240" cy="749808"/>
          </a:xfrm>
          <a:prstGeom prst="roundRect">
            <a:avLst/>
          </a:prstGeom>
          <a:solidFill>
            <a:srgbClr val="FEF3F2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7"/>
            <a:ext cx="49286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92D2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  전체 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59"/>
            <a:ext cx="4928616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시스템 요약의 [차단]/[복구]는 전체 모듈에 명령을 전송합니다.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33087"/>
            <a:ext cx="5349240" cy="749808"/>
          </a:xfrm>
          <a:prstGeom prst="round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512" y="4224527"/>
            <a:ext cx="49286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7900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개별 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480559"/>
            <a:ext cx="4928616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모듈 상태 표의 [차단]은 선택한 모듈에만 적용됩니다.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02352"/>
            <a:ext cx="5349240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5183309"/>
            <a:ext cx="492861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  </a:t>
            </a:r>
            <a:r>
              <a:rPr lang="en-US" sz="1200" b="1" dirty="0">
                <a:solidFill>
                  <a:srgbClr val="2669FF"/>
                </a:solidFill>
                <a:latin typeface="맑은 고딕"/>
              </a:rPr>
              <a:t>SOC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충전제한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[%]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2669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5449824"/>
            <a:ext cx="4928616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충전전류제한(C)과 SOC충전제한(%)은 승인된 운전 기준값만 입력합니다.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02352"/>
            <a:ext cx="5349240" cy="749808"/>
          </a:xfrm>
          <a:prstGeom prst="roundRect">
            <a:avLst/>
          </a:prstGeom>
          <a:solidFill>
            <a:srgbClr val="ECFDF3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82512" y="5193792"/>
            <a:ext cx="49286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39855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완료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5449824"/>
            <a:ext cx="4928616" cy="329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진행 상태와 성공/실패 모듈을 확인하고 실패 시 모듈 번호를 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1114075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6926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11. 접속 종료 및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65176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58952"/>
            <a:ext cx="11155680" cy="1097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TBC1000B Main GUI  |  고객 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1128" y="6430238"/>
            <a:ext cx="43891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정상 종료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64208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0" y="1865376"/>
            <a:ext cx="621793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755648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기록·제어 종료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2066544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운전 데이터 기록과 진행 중 제어 작업이 없는지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" y="2944368"/>
            <a:ext cx="621792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834640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접속 종료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145536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[접속종료]를 클릭하고 접속상태가 대기로 바뀌는지 확인합니다.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22191"/>
            <a:ext cx="5230368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0" y="4023359"/>
            <a:ext cx="621793" cy="475488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3913631"/>
            <a:ext cx="42793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프로그램 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224528"/>
            <a:ext cx="42793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데이터 저장 완료 후 창을 닫습니다.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09728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문제 발생 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664208"/>
            <a:ext cx="5285232" cy="60350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3952" y="1746504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접속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9374" y="1719072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전원·네트워크·IP/Port·Community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2432304"/>
            <a:ext cx="5285232" cy="60350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3952" y="2514600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값 미갱신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9374" y="2487168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접속상태·Timeout·최종 업데이트 시각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3200400"/>
            <a:ext cx="5285232" cy="60350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3952" y="3272213"/>
            <a:ext cx="116128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TRAP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미수신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C346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29374" y="3255264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TRAP Community/Port와 방화벽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968496"/>
            <a:ext cx="5285232" cy="60350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3952" y="4050791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모듈 불일치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9374" y="4023359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설치 순서와 모듈 바코드 재확인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4736592"/>
            <a:ext cx="5285232" cy="60350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4818888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C346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EPO 실패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9374" y="4791455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실패 모듈 번호 및 처리시각 기록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6041"/>
            <a:ext cx="10881360" cy="713232"/>
          </a:xfrm>
          <a:prstGeom prst="roundRect">
            <a:avLst/>
          </a:prstGeom>
          <a:solidFill>
            <a:srgbClr val="EEF4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0392" y="5597480"/>
            <a:ext cx="10460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69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문의 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853513"/>
            <a:ext cx="104607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75467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화면 캡처, 발생 시각, 시스템 IP, 알람/실패 모듈 번호를 함께 전달하십시오.</a:t>
            </a:r>
          </a:p>
        </p:txBody>
      </p:sp>
    </p:spTree>
    <p:extLst>
      <p:ext uri="{BB962C8B-B14F-4D97-AF65-F5344CB8AC3E}">
        <p14:creationId xmlns:p14="http://schemas.microsoft.com/office/powerpoint/2010/main" val="536245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1329</Words>
  <Application>Microsoft Office PowerPoint</Application>
  <PresentationFormat>와이드스크린</PresentationFormat>
  <Paragraphs>286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TBC1000B Main GUI 고객 사용자 매뉴얼</dc:title>
  <dc:subject>접속, 모니터링, 알람, 데이터 기록 및 EPO 사용 방법</dc:subject>
  <dc:creator>PANTECH C&amp;I Engineering</dc:creator>
  <cp:keywords>TBC1000B, Main GUI, SNMP, TRAP, EPO, 사용자 매뉴얼</cp:keywords>
  <dc:description>generated using python-pptx</dc:description>
  <cp:lastModifiedBy>Administrator</cp:lastModifiedBy>
  <cp:revision>23</cp:revision>
  <dcterms:created xsi:type="dcterms:W3CDTF">2013-01-27T09:14:16Z</dcterms:created>
  <dcterms:modified xsi:type="dcterms:W3CDTF">2026-08-10T05:45:18Z</dcterms:modified>
  <cp:category/>
</cp:coreProperties>
</file>