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19"/>
  </p:notesMasterIdLst>
  <p:sldIdLst>
    <p:sldId id="498" r:id="rId2"/>
    <p:sldId id="505" r:id="rId3"/>
    <p:sldId id="522" r:id="rId4"/>
    <p:sldId id="544" r:id="rId5"/>
    <p:sldId id="525" r:id="rId6"/>
    <p:sldId id="526" r:id="rId7"/>
    <p:sldId id="545" r:id="rId8"/>
    <p:sldId id="533" r:id="rId9"/>
    <p:sldId id="535" r:id="rId10"/>
    <p:sldId id="537" r:id="rId11"/>
    <p:sldId id="536" r:id="rId12"/>
    <p:sldId id="530" r:id="rId13"/>
    <p:sldId id="540" r:id="rId14"/>
    <p:sldId id="539" r:id="rId15"/>
    <p:sldId id="541" r:id="rId16"/>
    <p:sldId id="542" r:id="rId17"/>
    <p:sldId id="491" r:id="rId18"/>
  </p:sldIdLst>
  <p:sldSz cx="9144000" cy="6858000" type="screen4x3"/>
  <p:notesSz cx="9939338" cy="6805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968" userDrawn="1">
          <p15:clr>
            <a:srgbClr val="A4A3A4"/>
          </p15:clr>
        </p15:guide>
        <p15:guide id="5" orient="horz" pos="2976" userDrawn="1">
          <p15:clr>
            <a:srgbClr val="A4A3A4"/>
          </p15:clr>
        </p15:guide>
        <p15:guide id="6" orient="horz" pos="3264" userDrawn="1">
          <p15:clr>
            <a:srgbClr val="A4A3A4"/>
          </p15:clr>
        </p15:guide>
        <p15:guide id="7" orient="horz" pos="2208" userDrawn="1">
          <p15:clr>
            <a:srgbClr val="A4A3A4"/>
          </p15:clr>
        </p15:guide>
        <p15:guide id="8" orient="horz" pos="40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76FF"/>
    <a:srgbClr val="F79646"/>
    <a:srgbClr val="31859C"/>
    <a:srgbClr val="0168FF"/>
    <a:srgbClr val="00579A"/>
    <a:srgbClr val="007297"/>
    <a:srgbClr val="4196B2"/>
    <a:srgbClr val="0082A1"/>
    <a:srgbClr val="00B2C2"/>
    <a:srgbClr val="059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6400" autoAdjust="0"/>
  </p:normalViewPr>
  <p:slideViewPr>
    <p:cSldViewPr>
      <p:cViewPr varScale="1">
        <p:scale>
          <a:sx n="120" d="100"/>
          <a:sy n="120" d="100"/>
        </p:scale>
        <p:origin x="1572" y="108"/>
      </p:cViewPr>
      <p:guideLst>
        <p:guide orient="horz" pos="1200"/>
        <p:guide pos="2880"/>
        <p:guide orient="horz" pos="1968"/>
        <p:guide orient="horz" pos="2976"/>
        <p:guide orient="horz" pos="3264"/>
        <p:guide orient="horz" pos="2208"/>
        <p:guide orient="horz" pos="403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108" d="100"/>
          <a:sy n="108" d="100"/>
        </p:scale>
        <p:origin x="48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7046" cy="341856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30567" y="1"/>
            <a:ext cx="4307046" cy="341856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7CC42D40-FE3D-435D-A833-BC9CE7DAF7D8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8525" y="850900"/>
            <a:ext cx="3062288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3935" y="3275203"/>
            <a:ext cx="7951470" cy="2679710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63759"/>
            <a:ext cx="4307046" cy="34185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30567" y="6463759"/>
            <a:ext cx="4307046" cy="34185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881E7A17-86BC-47F3-A708-9C3A21A5E8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282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안녕하십니까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저는 팬택씨앤아이 계열을 소개드릴 경영전략실 최영권 수석입니다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smtClean="0"/>
              <a:t>2021</a:t>
            </a:r>
            <a:r>
              <a:rPr lang="ko-KR" altLang="en-US" dirty="0" smtClean="0"/>
              <a:t>년은 팬택씨앤아이 계열이 </a:t>
            </a:r>
            <a:r>
              <a:rPr lang="ko-KR" altLang="en-US" dirty="0" err="1" smtClean="0"/>
              <a:t>창립된지</a:t>
            </a:r>
            <a:r>
              <a:rPr lang="ko-KR" altLang="en-US" dirty="0" smtClean="0"/>
              <a:t> </a:t>
            </a:r>
            <a:r>
              <a:rPr lang="en-US" altLang="ko-KR" dirty="0" smtClean="0"/>
              <a:t>30</a:t>
            </a:r>
            <a:r>
              <a:rPr lang="ko-KR" altLang="en-US" dirty="0" smtClean="0"/>
              <a:t>주년이 된 해입니다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지난 </a:t>
            </a:r>
            <a:r>
              <a:rPr lang="en-US" altLang="ko-KR" dirty="0" smtClean="0"/>
              <a:t>30</a:t>
            </a:r>
            <a:r>
              <a:rPr lang="ko-KR" altLang="en-US" dirty="0" smtClean="0"/>
              <a:t>년간의 팬택씨앤아이 계열의 역사와 현재를 소개</a:t>
            </a:r>
            <a:r>
              <a:rPr lang="en-US" altLang="ko-KR" baseline="0" dirty="0" smtClean="0"/>
              <a:t> </a:t>
            </a:r>
            <a:r>
              <a:rPr lang="ko-KR" altLang="en-US" dirty="0" smtClean="0"/>
              <a:t>드리고자 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1E7A17-86BC-47F3-A708-9C3A21A5E830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965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97299" y="799649"/>
            <a:ext cx="7549400" cy="362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6A2C01-3823-4C50-A21B-3861C1342341}" type="datetime1">
              <a:rPr lang="en-US" altLang="ko-KR" smtClean="0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007297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6C0B5-7EE7-45FE-B52D-B1E2AE9A3573}" type="datetime1">
              <a:rPr lang="en-US" altLang="ko-KR" smtClean="0"/>
              <a:t>4/3/2026</a:t>
            </a:fld>
            <a:endParaRPr lang="en-US"/>
          </a:p>
        </p:txBody>
      </p:sp>
      <p:sp>
        <p:nvSpPr>
          <p:cNvPr id="7" name="Holder 4"/>
          <p:cNvSpPr>
            <a:spLocks noGrp="1"/>
          </p:cNvSpPr>
          <p:nvPr>
            <p:ph type="sldNum" sz="quarter" idx="7"/>
          </p:nvPr>
        </p:nvSpPr>
        <p:spPr>
          <a:xfrm>
            <a:off x="8305800" y="647230"/>
            <a:ext cx="304800" cy="166712"/>
          </a:xfrm>
        </p:spPr>
        <p:txBody>
          <a:bodyPr vert="horz" wrap="square" lIns="0" tIns="12700" rIns="0" bIns="0" rtlCol="0">
            <a:spAutoFit/>
          </a:bodyPr>
          <a:lstStyle>
            <a:lvl1pPr algn="ctr">
              <a:defRPr lang="en-US" altLang="ko-KR" sz="1000" spc="-20" smtClean="0">
                <a:solidFill>
                  <a:srgbClr val="007297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fld id="{B6F15528-21DE-4FAA-801E-634DDDAF4B2B}" type="slidenum">
              <a:rPr lang="en-US" altLang="ko-KR" smtClean="0"/>
              <a:pPr marL="12700">
                <a:spcBef>
                  <a:spcPts val="100"/>
                </a:spcBef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007297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2422D-7E16-4FA3-B7C8-5D10F392E476}" type="datetime1">
              <a:rPr lang="en-US" altLang="ko-KR" smtClean="0"/>
              <a:t>4/3/2026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007297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D5C06-02D9-43FC-BC92-FF7556029769}" type="datetime1">
              <a:rPr lang="en-US" altLang="ko-KR" smtClean="0"/>
              <a:t>4/3/2026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B4B8F-A40B-43D5-B737-EB320561F577}" type="datetime1">
              <a:rPr lang="en-US" altLang="ko-KR" smtClean="0"/>
              <a:t>4/3/2026</a:t>
            </a:fld>
            <a:endParaRPr lang="en-US"/>
          </a:p>
        </p:txBody>
      </p:sp>
      <p:sp>
        <p:nvSpPr>
          <p:cNvPr id="5" name="Holder 4"/>
          <p:cNvSpPr>
            <a:spLocks noGrp="1"/>
          </p:cNvSpPr>
          <p:nvPr>
            <p:ph type="sldNum" sz="quarter" idx="7"/>
          </p:nvPr>
        </p:nvSpPr>
        <p:spPr>
          <a:xfrm>
            <a:off x="8305800" y="647230"/>
            <a:ext cx="304800" cy="166712"/>
          </a:xfrm>
        </p:spPr>
        <p:txBody>
          <a:bodyPr vert="horz" wrap="square" lIns="0" tIns="12700" rIns="0" bIns="0" rtlCol="0">
            <a:spAutoFit/>
          </a:bodyPr>
          <a:lstStyle>
            <a:lvl1pPr algn="ctr">
              <a:defRPr lang="en-US" altLang="ko-KR" sz="1000" spc="-20" smtClean="0">
                <a:solidFill>
                  <a:srgbClr val="007297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fld id="{B6F15528-21DE-4FAA-801E-634DDDAF4B2B}" type="slidenum">
              <a:rPr lang="en-US" altLang="ko-KR" smtClean="0"/>
              <a:pPr marL="12700">
                <a:spcBef>
                  <a:spcPts val="100"/>
                </a:spcBef>
              </a:pPr>
              <a:t>‹#›</a:t>
            </a:fld>
            <a:endParaRPr lang="ko-KR" alt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 flipV="1">
            <a:off x="0" y="304800"/>
            <a:ext cx="9144000" cy="24684"/>
          </a:xfrm>
          <a:prstGeom prst="line">
            <a:avLst/>
          </a:prstGeom>
          <a:ln w="38100" cmpd="dbl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0FE4D0A-62A3-41A2-AF5C-AEC975E96E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77940"/>
            <a:ext cx="2103120" cy="276999"/>
          </a:xfrm>
        </p:spPr>
        <p:txBody>
          <a:bodyPr/>
          <a:lstStyle/>
          <a:p>
            <a:fld id="{E86BC526-58D7-4A1D-BB8E-7628BFA3BBE4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D55ADEB-FBD6-4DC4-8A4A-A867C294F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8960" y="6377940"/>
            <a:ext cx="2926080" cy="276999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856D87-6FF5-47B3-B6F9-C28A8EBCB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7496D0D7-5DA0-4C90-B0BA-53BE3EE56E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20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7CFA2-EA43-4942-A914-4E691F861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817466"/>
            <a:ext cx="6858000" cy="69249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BCF871-FAAF-463F-A3E1-998EA513D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16D76E-D1D6-4E76-8373-5639BE9D66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77940"/>
            <a:ext cx="2103120" cy="276999"/>
          </a:xfrm>
        </p:spPr>
        <p:txBody>
          <a:bodyPr/>
          <a:lstStyle/>
          <a:p>
            <a:fld id="{E86BC526-58D7-4A1D-BB8E-7628BFA3BBE4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1B2CED-F921-41C4-AEFF-FE837C929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8960" y="6377940"/>
            <a:ext cx="2926080" cy="276999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92B488-96F8-4103-9C29-EDB417D27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83680" y="6377940"/>
            <a:ext cx="2103120" cy="276999"/>
          </a:xfrm>
        </p:spPr>
        <p:txBody>
          <a:bodyPr/>
          <a:lstStyle/>
          <a:p>
            <a:fld id="{7496D0D7-5DA0-4C90-B0BA-53BE3EE56E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6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58575" y="3086486"/>
            <a:ext cx="2426848" cy="867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1" i="0">
                <a:solidFill>
                  <a:srgbClr val="007297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7300" y="1840704"/>
            <a:ext cx="8089399" cy="1545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750C3-782D-43E0-9742-C907131D1C36}" type="datetime1">
              <a:rPr lang="en-US" altLang="ko-KR" smtClean="0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351692" y="791308"/>
            <a:ext cx="6482129" cy="4747846"/>
          </a:xfrm>
          <a:custGeom>
            <a:avLst/>
            <a:gdLst>
              <a:gd name="connsiteX0" fmla="*/ 0 w 8658225"/>
              <a:gd name="connsiteY0" fmla="*/ 0 h 6858000"/>
              <a:gd name="connsiteX1" fmla="*/ 8658225 w 8658225"/>
              <a:gd name="connsiteY1" fmla="*/ 0 h 6858000"/>
              <a:gd name="connsiteX2" fmla="*/ 8658225 w 8658225"/>
              <a:gd name="connsiteY2" fmla="*/ 6858000 h 6858000"/>
              <a:gd name="connsiteX3" fmla="*/ 0 w 8658225"/>
              <a:gd name="connsiteY3" fmla="*/ 6858000 h 6858000"/>
              <a:gd name="connsiteX4" fmla="*/ 0 w 8658225"/>
              <a:gd name="connsiteY4" fmla="*/ 0 h 6858000"/>
              <a:gd name="connsiteX0" fmla="*/ 0 w 8658225"/>
              <a:gd name="connsiteY0" fmla="*/ 0 h 6858000"/>
              <a:gd name="connsiteX1" fmla="*/ 8658225 w 8658225"/>
              <a:gd name="connsiteY1" fmla="*/ 0 h 6858000"/>
              <a:gd name="connsiteX2" fmla="*/ 7086600 w 8658225"/>
              <a:gd name="connsiteY2" fmla="*/ 6858000 h 6858000"/>
              <a:gd name="connsiteX3" fmla="*/ 0 w 8658225"/>
              <a:gd name="connsiteY3" fmla="*/ 6858000 h 6858000"/>
              <a:gd name="connsiteX4" fmla="*/ 0 w 8658225"/>
              <a:gd name="connsiteY4" fmla="*/ 0 h 6858000"/>
              <a:gd name="connsiteX0" fmla="*/ 0 w 8658225"/>
              <a:gd name="connsiteY0" fmla="*/ 0 h 6858000"/>
              <a:gd name="connsiteX1" fmla="*/ 8658225 w 8658225"/>
              <a:gd name="connsiteY1" fmla="*/ 0 h 6858000"/>
              <a:gd name="connsiteX2" fmla="*/ 6486525 w 8658225"/>
              <a:gd name="connsiteY2" fmla="*/ 6858000 h 6858000"/>
              <a:gd name="connsiteX3" fmla="*/ 0 w 8658225"/>
              <a:gd name="connsiteY3" fmla="*/ 6858000 h 6858000"/>
              <a:gd name="connsiteX4" fmla="*/ 0 w 8658225"/>
              <a:gd name="connsiteY4" fmla="*/ 0 h 6858000"/>
              <a:gd name="connsiteX0" fmla="*/ 0 w 8658225"/>
              <a:gd name="connsiteY0" fmla="*/ 0 h 6858000"/>
              <a:gd name="connsiteX1" fmla="*/ 8658225 w 8658225"/>
              <a:gd name="connsiteY1" fmla="*/ 0 h 6858000"/>
              <a:gd name="connsiteX2" fmla="*/ 6515100 w 8658225"/>
              <a:gd name="connsiteY2" fmla="*/ 6858000 h 6858000"/>
              <a:gd name="connsiteX3" fmla="*/ 0 w 8658225"/>
              <a:gd name="connsiteY3" fmla="*/ 6858000 h 6858000"/>
              <a:gd name="connsiteX4" fmla="*/ 0 w 8658225"/>
              <a:gd name="connsiteY4" fmla="*/ 0 h 6858000"/>
              <a:gd name="connsiteX0" fmla="*/ 0 w 9353550"/>
              <a:gd name="connsiteY0" fmla="*/ 0 h 6858000"/>
              <a:gd name="connsiteX1" fmla="*/ 9353550 w 9353550"/>
              <a:gd name="connsiteY1" fmla="*/ 0 h 6858000"/>
              <a:gd name="connsiteX2" fmla="*/ 6515100 w 9353550"/>
              <a:gd name="connsiteY2" fmla="*/ 6858000 h 6858000"/>
              <a:gd name="connsiteX3" fmla="*/ 0 w 9353550"/>
              <a:gd name="connsiteY3" fmla="*/ 6858000 h 6858000"/>
              <a:gd name="connsiteX4" fmla="*/ 0 w 9353550"/>
              <a:gd name="connsiteY4" fmla="*/ 0 h 6858000"/>
              <a:gd name="connsiteX0" fmla="*/ 0 w 9001125"/>
              <a:gd name="connsiteY0" fmla="*/ 0 h 6858000"/>
              <a:gd name="connsiteX1" fmla="*/ 9001125 w 9001125"/>
              <a:gd name="connsiteY1" fmla="*/ 0 h 6858000"/>
              <a:gd name="connsiteX2" fmla="*/ 6515100 w 9001125"/>
              <a:gd name="connsiteY2" fmla="*/ 6858000 h 6858000"/>
              <a:gd name="connsiteX3" fmla="*/ 0 w 9001125"/>
              <a:gd name="connsiteY3" fmla="*/ 6858000 h 6858000"/>
              <a:gd name="connsiteX4" fmla="*/ 0 w 9001125"/>
              <a:gd name="connsiteY4" fmla="*/ 0 h 6858000"/>
              <a:gd name="connsiteX0" fmla="*/ 0 w 9363075"/>
              <a:gd name="connsiteY0" fmla="*/ 0 h 6858000"/>
              <a:gd name="connsiteX1" fmla="*/ 9363075 w 9363075"/>
              <a:gd name="connsiteY1" fmla="*/ 0 h 6858000"/>
              <a:gd name="connsiteX2" fmla="*/ 6515100 w 9363075"/>
              <a:gd name="connsiteY2" fmla="*/ 6858000 h 6858000"/>
              <a:gd name="connsiteX3" fmla="*/ 0 w 9363075"/>
              <a:gd name="connsiteY3" fmla="*/ 6858000 h 6858000"/>
              <a:gd name="connsiteX4" fmla="*/ 0 w 936307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63075" h="6858000">
                <a:moveTo>
                  <a:pt x="0" y="0"/>
                </a:moveTo>
                <a:lnTo>
                  <a:pt x="9363075" y="0"/>
                </a:lnTo>
                <a:lnTo>
                  <a:pt x="65151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33062"/>
            <a:endParaRPr lang="ko-KR" altLang="en-US" sz="1246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" name="object 10"/>
          <p:cNvSpPr/>
          <p:nvPr/>
        </p:nvSpPr>
        <p:spPr>
          <a:xfrm>
            <a:off x="1" y="6235269"/>
            <a:ext cx="9143999" cy="358963"/>
          </a:xfrm>
          <a:custGeom>
            <a:avLst/>
            <a:gdLst/>
            <a:ahLst/>
            <a:cxnLst/>
            <a:rect l="l" t="t" r="r" b="b"/>
            <a:pathLst>
              <a:path w="9144000" h="594359">
                <a:moveTo>
                  <a:pt x="9144000" y="0"/>
                </a:moveTo>
                <a:lnTo>
                  <a:pt x="0" y="0"/>
                </a:lnTo>
                <a:lnTo>
                  <a:pt x="0" y="593991"/>
                </a:lnTo>
                <a:lnTo>
                  <a:pt x="9144000" y="593991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297"/>
          </a:solidFill>
        </p:spPr>
        <p:txBody>
          <a:bodyPr wrap="square" lIns="0" tIns="0" rIns="0" bIns="0" rtlCol="0"/>
          <a:lstStyle/>
          <a:p>
            <a:endParaRPr sz="1662" dirty="0"/>
          </a:p>
        </p:txBody>
      </p:sp>
      <p:sp>
        <p:nvSpPr>
          <p:cNvPr id="7" name="TextBox 6"/>
          <p:cNvSpPr txBox="1"/>
          <p:nvPr/>
        </p:nvSpPr>
        <p:spPr>
          <a:xfrm>
            <a:off x="6566068" y="6286904"/>
            <a:ext cx="2883877" cy="348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62" dirty="0" smtClean="0">
                <a:solidFill>
                  <a:schemeClr val="bg1"/>
                </a:solidFill>
              </a:rPr>
              <a:t>2025  </a:t>
            </a:r>
            <a:r>
              <a:rPr lang="en-US" altLang="ko-KR" sz="1662" dirty="0">
                <a:solidFill>
                  <a:schemeClr val="bg1"/>
                </a:solidFill>
              </a:rPr>
              <a:t>PTCE. All Right Reserved</a:t>
            </a:r>
            <a:endParaRPr lang="ko-KR" altLang="en-US" sz="1662" dirty="0">
              <a:solidFill>
                <a:schemeClr val="bg1"/>
              </a:solidFill>
            </a:endParaRP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7059050" y="5590380"/>
            <a:ext cx="1677269" cy="392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4399" tIns="42199" rIns="84399" bIns="42199">
            <a:spAutoFit/>
          </a:bodyPr>
          <a:lstStyle/>
          <a:p>
            <a:pPr algn="ctr"/>
            <a:r>
              <a:rPr lang="en-US" altLang="ko-KR" sz="2000" b="1" dirty="0" smtClean="0">
                <a:latin typeface="+mn-ea"/>
              </a:rPr>
              <a:t>2025. 09. 03</a:t>
            </a:r>
            <a:endParaRPr lang="en-US" altLang="ko-KR" sz="2000" b="1" dirty="0">
              <a:latin typeface="+mn-ea"/>
            </a:endParaRPr>
          </a:p>
        </p:txBody>
      </p:sp>
      <p:sp>
        <p:nvSpPr>
          <p:cNvPr id="11" name="부제목 2"/>
          <p:cNvSpPr>
            <a:spLocks noGrp="1"/>
          </p:cNvSpPr>
          <p:nvPr/>
        </p:nvSpPr>
        <p:spPr bwMode="auto">
          <a:xfrm>
            <a:off x="6781800" y="5181600"/>
            <a:ext cx="2104484" cy="40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13" tIns="38957" rIns="77913" bIns="38957" numCol="1" anchor="b" anchorCtr="0" compatLnSpc="1">
            <a:prstTxWarp prst="textNoShape">
              <a:avLst/>
            </a:prstTxWarp>
          </a:bodyPr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인프라개발팀</a:t>
            </a:r>
            <a:endParaRPr lang="en-US" altLang="ko-KR" sz="20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68788"/>
            <a:ext cx="9143999" cy="3498412"/>
          </a:xfrm>
          <a:prstGeom prst="rect">
            <a:avLst/>
          </a:prstGeom>
        </p:spPr>
      </p:pic>
      <p:sp>
        <p:nvSpPr>
          <p:cNvPr id="13" name="Text Box 23"/>
          <p:cNvSpPr txBox="1">
            <a:spLocks noChangeArrowheads="1"/>
          </p:cNvSpPr>
          <p:nvPr/>
        </p:nvSpPr>
        <p:spPr bwMode="auto">
          <a:xfrm>
            <a:off x="2582678" y="1600200"/>
            <a:ext cx="4008283" cy="369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4399" tIns="42199" rIns="84399" bIns="42199">
            <a:spAutoFit/>
          </a:bodyPr>
          <a:lstStyle/>
          <a:p>
            <a:pPr algn="ctr">
              <a:defRPr/>
            </a:pPr>
            <a:r>
              <a:rPr lang="ko-KR" altLang="en-US" sz="1846" b="1" dirty="0">
                <a:solidFill>
                  <a:schemeClr val="bg1"/>
                </a:solidFill>
              </a:rPr>
              <a:t>연결로 무한한 가치를 만드는 기업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4"/>
          <a:srcRect l="10580" t="38490" r="10520" b="35540"/>
          <a:stretch>
            <a:fillRect/>
          </a:stretch>
        </p:blipFill>
        <p:spPr>
          <a:xfrm>
            <a:off x="6858000" y="0"/>
            <a:ext cx="2253251" cy="76350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08540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4C76F4D4-572E-75E0-4A95-93BE6014B7C0}"/>
              </a:ext>
            </a:extLst>
          </p:cNvPr>
          <p:cNvGrpSpPr/>
          <p:nvPr/>
        </p:nvGrpSpPr>
        <p:grpSpPr>
          <a:xfrm>
            <a:off x="762001" y="838200"/>
            <a:ext cx="7315199" cy="847668"/>
            <a:chOff x="1594532" y="2352776"/>
            <a:chExt cx="5769938" cy="22568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49011A-0B01-8857-9C31-7AD7C3A13590}"/>
                </a:ext>
              </a:extLst>
            </p:cNvPr>
            <p:cNvSpPr txBox="1"/>
            <p:nvPr/>
          </p:nvSpPr>
          <p:spPr>
            <a:xfrm>
              <a:off x="2422177" y="2352776"/>
              <a:ext cx="4942293" cy="225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2454" b="1" spc="-94" dirty="0" err="1" smtClean="0">
                  <a:latin typeface="뫼비우스 Bold" panose="02000500000000000000" pitchFamily="2" charset="-127"/>
                  <a:ea typeface="뫼비우스 Bold" panose="02000500000000000000" pitchFamily="2" charset="-127"/>
                </a:rPr>
                <a:t>정류기용</a:t>
              </a:r>
              <a:r>
                <a:rPr kumimoji="1" lang="ko-KR" altLang="en-US" sz="2454" b="1" spc="-94" dirty="0" smtClean="0">
                  <a:latin typeface="뫼비우스 Bold" panose="02000500000000000000" pitchFamily="2" charset="-127"/>
                  <a:ea typeface="뫼비우스 Bold" panose="02000500000000000000" pitchFamily="2" charset="-127"/>
                </a:rPr>
                <a:t> 대형리튬축전지 시스템 감시 </a:t>
              </a:r>
              <a:r>
                <a:rPr kumimoji="1" lang="ko-KR" altLang="en-US" sz="2454" b="1" spc="-94" dirty="0">
                  <a:latin typeface="뫼비우스 Bold" panose="02000500000000000000" pitchFamily="2" charset="-127"/>
                  <a:ea typeface="뫼비우스 Bold" panose="02000500000000000000" pitchFamily="2" charset="-127"/>
                </a:rPr>
                <a:t>방법</a:t>
              </a:r>
              <a:r>
                <a:rPr kumimoji="1" lang="en-US" altLang="ko-KR" sz="2454" b="1" spc="-94" dirty="0">
                  <a:latin typeface="뫼비우스 Bold" panose="02000500000000000000" pitchFamily="2" charset="-127"/>
                  <a:ea typeface="뫼비우스 Bold" panose="02000500000000000000" pitchFamily="2" charset="-127"/>
                </a:rPr>
                <a:t>.</a:t>
              </a:r>
              <a:endParaRPr kumimoji="1" lang="ko-KR" altLang="en-US" sz="2454" b="1" spc="-94" dirty="0">
                <a:latin typeface="뫼비우스 Bold" panose="02000500000000000000" pitchFamily="2" charset="-127"/>
                <a:ea typeface="뫼비우스 Bold" panose="02000500000000000000" pitchFamily="2" charset="-127"/>
              </a:endParaRPr>
            </a:p>
            <a:p>
              <a:pPr algn="ctr"/>
              <a:r>
                <a:rPr kumimoji="1" lang="en-US" altLang="ko-KR" sz="2454" b="1" spc="-94" dirty="0" smtClean="0">
                  <a:latin typeface="뫼비우스 Bold" panose="02000500000000000000" pitchFamily="2" charset="-127"/>
                  <a:ea typeface="뫼비우스 Bold" panose="02000500000000000000" pitchFamily="2" charset="-127"/>
                </a:rPr>
                <a:t>(TBC1000B-NDA1)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22ACEB0-44EE-DFFE-4D58-31620254B6D5}"/>
                </a:ext>
              </a:extLst>
            </p:cNvPr>
            <p:cNvSpPr txBox="1"/>
            <p:nvPr/>
          </p:nvSpPr>
          <p:spPr>
            <a:xfrm>
              <a:off x="1594532" y="2352776"/>
              <a:ext cx="827646" cy="182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4525"/>
                </a:lnSpc>
              </a:pPr>
              <a:r>
                <a:rPr kumimoji="1" lang="en-US" altLang="ko-KR" sz="4525" b="1" dirty="0">
                  <a:solidFill>
                    <a:srgbClr val="85B0BB"/>
                  </a:solidFill>
                  <a:latin typeface="뫼비우스 Bold" panose="02000500000000000000" pitchFamily="2" charset="-127"/>
                  <a:ea typeface="뫼비우스 Bold" panose="02000500000000000000" pitchFamily="2" charset="-127"/>
                </a:rPr>
                <a:t>01</a:t>
              </a:r>
              <a:endParaRPr kumimoji="1" lang="ko-KR" altLang="en-US" sz="4525" b="1" dirty="0">
                <a:solidFill>
                  <a:srgbClr val="1E6680"/>
                </a:solidFill>
                <a:latin typeface="뫼비우스 Bold" panose="02000500000000000000" pitchFamily="2" charset="-127"/>
                <a:ea typeface="뫼비우스 Bold" panose="020005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0CD1156-752E-4D38-54A5-32C759DE3662}"/>
              </a:ext>
            </a:extLst>
          </p:cNvPr>
          <p:cNvSpPr txBox="1"/>
          <p:nvPr/>
        </p:nvSpPr>
        <p:spPr>
          <a:xfrm>
            <a:off x="2286000" y="2226807"/>
            <a:ext cx="3352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7134" indent="-377134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2000" b="1" dirty="0" smtClean="0">
                <a:latin typeface="뫼비우스 Bold" panose="02000500000000000000" pitchFamily="2" charset="-127"/>
                <a:ea typeface="뫼비우스 Bold" panose="02000500000000000000" pitchFamily="2" charset="-127"/>
              </a:rPr>
              <a:t>감시 환경 구성</a:t>
            </a:r>
            <a:endParaRPr lang="en-US" altLang="ko-KR" sz="2000" b="1" dirty="0" smtClean="0">
              <a:latin typeface="뫼비우스 Bold" panose="02000500000000000000" pitchFamily="2" charset="-127"/>
              <a:ea typeface="뫼비우스 Bold" panose="02000500000000000000" pitchFamily="2" charset="-127"/>
            </a:endParaRPr>
          </a:p>
          <a:p>
            <a:pPr marL="377134" indent="-377134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2000" b="1" dirty="0" smtClean="0">
                <a:latin typeface="뫼비우스 Bold" panose="02000500000000000000" pitchFamily="2" charset="-127"/>
                <a:ea typeface="뫼비우스 Bold" panose="02000500000000000000" pitchFamily="2" charset="-127"/>
              </a:rPr>
              <a:t>축전지 시스템 웹 접속</a:t>
            </a:r>
            <a:endParaRPr lang="en-US" altLang="ko-KR" sz="2000" b="1" dirty="0" smtClean="0">
              <a:latin typeface="뫼비우스 Bold" panose="02000500000000000000" pitchFamily="2" charset="-127"/>
              <a:ea typeface="뫼비우스 Bold" panose="02000500000000000000" pitchFamily="2" charset="-127"/>
            </a:endParaRPr>
          </a:p>
          <a:p>
            <a:pPr marL="377134" indent="-377134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2000" b="1" dirty="0" smtClean="0">
                <a:latin typeface="뫼비우스 Bold" panose="02000500000000000000" pitchFamily="2" charset="-127"/>
                <a:ea typeface="뫼비우스 Bold" panose="02000500000000000000" pitchFamily="2" charset="-127"/>
              </a:rPr>
              <a:t>주요 감시 항목</a:t>
            </a:r>
            <a:endParaRPr lang="en-US" altLang="ko-KR" sz="2000" b="1" dirty="0" smtClean="0">
              <a:latin typeface="뫼비우스 Bold" panose="02000500000000000000" pitchFamily="2" charset="-127"/>
              <a:ea typeface="뫼비우스 Bold" panose="02000500000000000000" pitchFamily="2" charset="-127"/>
            </a:endParaRPr>
          </a:p>
          <a:p>
            <a:pPr marL="377134" indent="-377134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2000" b="1" dirty="0" smtClean="0">
                <a:latin typeface="뫼비우스 Bold" panose="02000500000000000000" pitchFamily="2" charset="-127"/>
                <a:ea typeface="뫼비우스 Bold" panose="02000500000000000000" pitchFamily="2" charset="-127"/>
              </a:rPr>
              <a:t>별첨</a:t>
            </a:r>
            <a:endParaRPr lang="en-US" altLang="ko-KR" sz="2000" b="1" dirty="0">
              <a:latin typeface="뫼비우스 Bold" panose="02000500000000000000" pitchFamily="2" charset="-127"/>
              <a:ea typeface="뫼비우스 Bold" panose="02000500000000000000" pitchFamily="2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12142"/>
            <a:ext cx="1195387" cy="387425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4038600"/>
            <a:ext cx="1295400" cy="9144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00" y="4016769"/>
            <a:ext cx="1066800" cy="76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181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52632"/>
            <a:ext cx="4702832" cy="33813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21553FD-C200-4AA9-AB97-810ECC810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15115"/>
            <a:ext cx="3109992" cy="356473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925684"/>
            <a:ext cx="3102632" cy="1551316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662" y="0"/>
            <a:ext cx="9143337" cy="36241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11972">
              <a:spcBef>
                <a:spcPts val="94"/>
              </a:spcBef>
            </a:pPr>
            <a:r>
              <a:rPr lang="en-US" altLang="ko-KR" sz="2309" spc="-255" baseline="1543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Ⅰ. </a:t>
            </a:r>
            <a:r>
              <a:rPr lang="ko-KR" altLang="en-US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  <a:cs typeface="Gothic A1"/>
              </a:rPr>
              <a:t>감시 환경 구성</a:t>
            </a:r>
            <a:endParaRPr lang="ko-KR" altLang="en-US" sz="2309" spc="-255" baseline="1543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뫼비우스 Bold" panose="02000500000000000000" pitchFamily="2" charset="-127"/>
              <a:ea typeface="뫼비우스 Bold" panose="02000500000000000000" pitchFamily="2" charset="-127"/>
              <a:cs typeface="Gothic A1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2895600" y="401959"/>
            <a:ext cx="3283738" cy="360041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4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2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. PC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네트워크 구성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39114" y="768416"/>
            <a:ext cx="3196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 smtClean="0"/>
              <a:t>(</a:t>
            </a:r>
            <a:r>
              <a:rPr lang="ko-KR" altLang="en-US" sz="1400" dirty="0" smtClean="0"/>
              <a:t>예</a:t>
            </a:r>
            <a:r>
              <a:rPr lang="en-US" altLang="ko-KR" sz="1400" dirty="0" smtClean="0"/>
              <a:t>) </a:t>
            </a:r>
            <a:r>
              <a:rPr lang="en-US" altLang="ko-KR" sz="1400" dirty="0" smtClean="0">
                <a:latin typeface="맑은 고딕" panose="020B0503020000020004" pitchFamily="50" charset="-127"/>
              </a:rPr>
              <a:t>192.168.0.100</a:t>
            </a:r>
            <a:r>
              <a:rPr lang="ko-KR" altLang="en-US" sz="1400" dirty="0" smtClean="0">
                <a:latin typeface="맑은 고딕" panose="020B0503020000020004" pitchFamily="50" charset="-127"/>
              </a:rPr>
              <a:t>로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PC IP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주소 설정</a:t>
            </a:r>
            <a:endParaRPr lang="ko-KR" altLang="en-US" sz="1400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3962401" y="4925685"/>
            <a:ext cx="3886200" cy="155131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038600" y="5263027"/>
            <a:ext cx="36576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감시 </a:t>
            </a:r>
            <a:r>
              <a:rPr lang="en-US" altLang="ko-KR" sz="1400" dirty="0"/>
              <a:t>PC</a:t>
            </a:r>
            <a:r>
              <a:rPr lang="ko-KR" altLang="en-US" sz="1400" dirty="0"/>
              <a:t>의 명령 프롬프트에서 </a:t>
            </a:r>
            <a:r>
              <a:rPr lang="ko-KR" altLang="en-US" sz="1400" dirty="0" smtClean="0"/>
              <a:t>축전지 </a:t>
            </a:r>
            <a:r>
              <a:rPr lang="ko-KR" altLang="en-US" sz="1400" dirty="0"/>
              <a:t>시스템</a:t>
            </a:r>
            <a:r>
              <a:rPr lang="en-US" altLang="ko-KR" sz="1400" dirty="0"/>
              <a:t>(SMU02C, IP: 192.168.0.10)</a:t>
            </a:r>
            <a:r>
              <a:rPr lang="ko-KR" altLang="en-US" sz="1400" dirty="0"/>
              <a:t>으로 </a:t>
            </a:r>
            <a:r>
              <a:rPr lang="en-US" altLang="ko-KR" sz="1400" dirty="0"/>
              <a:t>Ping</a:t>
            </a:r>
            <a:r>
              <a:rPr lang="ko-KR" altLang="en-US" sz="1400" dirty="0"/>
              <a:t>을 실행하여 네트워크 연결 상태를 </a:t>
            </a:r>
            <a:r>
              <a:rPr lang="ko-KR" altLang="en-US" sz="1400" dirty="0" smtClean="0"/>
              <a:t>확인한다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sp>
        <p:nvSpPr>
          <p:cNvPr id="2" name="왼쪽 화살표 1"/>
          <p:cNvSpPr/>
          <p:nvPr/>
        </p:nvSpPr>
        <p:spPr>
          <a:xfrm>
            <a:off x="3675392" y="5587042"/>
            <a:ext cx="228600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283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174646" y="3489960"/>
            <a:ext cx="8686800" cy="3141172"/>
            <a:chOff x="174646" y="3489960"/>
            <a:chExt cx="8686800" cy="3141172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4646" y="3489960"/>
              <a:ext cx="8686800" cy="314117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64E682A-BA35-B6C4-9AE9-07A9DFDBCDF3}"/>
                </a:ext>
              </a:extLst>
            </p:cNvPr>
            <p:cNvSpPr txBox="1"/>
            <p:nvPr/>
          </p:nvSpPr>
          <p:spPr>
            <a:xfrm>
              <a:off x="1811265" y="3851849"/>
              <a:ext cx="4157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64E682A-BA35-B6C4-9AE9-07A9DFDBCDF3}"/>
                </a:ext>
              </a:extLst>
            </p:cNvPr>
            <p:cNvSpPr txBox="1"/>
            <p:nvPr/>
          </p:nvSpPr>
          <p:spPr>
            <a:xfrm>
              <a:off x="2133600" y="5241490"/>
              <a:ext cx="4157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FF0000"/>
                  </a:solidFill>
                </a:rPr>
                <a:t>②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모서리가 둥근 직사각형 6"/>
          <p:cNvSpPr/>
          <p:nvPr/>
        </p:nvSpPr>
        <p:spPr>
          <a:xfrm>
            <a:off x="662" y="0"/>
            <a:ext cx="9143337" cy="36241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11972">
              <a:spcBef>
                <a:spcPts val="94"/>
              </a:spcBef>
            </a:pPr>
            <a:r>
              <a:rPr lang="en-US" altLang="ko-KR" sz="2309" spc="-255" baseline="1543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Ⅰ. </a:t>
            </a:r>
            <a:r>
              <a:rPr lang="ko-KR" altLang="en-US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뫼비우스 Bold" panose="02000500000000000000" pitchFamily="2" charset="-127"/>
                <a:ea typeface="뫼비우스 Bold" panose="02000500000000000000" pitchFamily="2" charset="-127"/>
                <a:cs typeface="Gothic A1"/>
              </a:rPr>
              <a:t>감시 환경 구성</a:t>
            </a:r>
            <a:endParaRPr lang="ko-KR" altLang="en-US" sz="2309" spc="-255" baseline="1543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뫼비우스 Bold" panose="02000500000000000000" pitchFamily="2" charset="-127"/>
              <a:ea typeface="뫼비우스 Bold" panose="02000500000000000000" pitchFamily="2" charset="-127"/>
              <a:cs typeface="Gothic A1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2895600" y="401959"/>
            <a:ext cx="3283738" cy="360041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3. SNMP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설정 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( RMS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서버 연동 설정 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)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152400" y="3119413"/>
            <a:ext cx="4419600" cy="382839"/>
            <a:chOff x="5410200" y="2717645"/>
            <a:chExt cx="2133599" cy="382839"/>
          </a:xfrm>
          <a:solidFill>
            <a:schemeClr val="accent6"/>
          </a:solidFill>
        </p:grpSpPr>
        <p:sp>
          <p:nvSpPr>
            <p:cNvPr id="10" name="모서리가 둥근 직사각형 9"/>
            <p:cNvSpPr/>
            <p:nvPr/>
          </p:nvSpPr>
          <p:spPr>
            <a:xfrm>
              <a:off x="5410200" y="2717645"/>
              <a:ext cx="2133599" cy="38036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10200" y="2731152"/>
              <a:ext cx="213359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200" b="1" dirty="0" smtClean="0">
                  <a:solidFill>
                    <a:schemeClr val="bg1"/>
                  </a:solidFill>
                </a:rPr>
                <a:t>설정 적용</a:t>
              </a:r>
              <a:r>
                <a:rPr lang="en-US" altLang="ko-KR" sz="1200" b="1" dirty="0" smtClean="0">
                  <a:solidFill>
                    <a:schemeClr val="bg1"/>
                  </a:solidFill>
                </a:rPr>
                <a:t>, Submit</a:t>
              </a:r>
              <a:r>
                <a:rPr lang="ko-KR" altLang="en-US" sz="1200" b="1" dirty="0" smtClean="0">
                  <a:solidFill>
                    <a:schemeClr val="bg1"/>
                  </a:solidFill>
                </a:rPr>
                <a:t> 클릭</a:t>
              </a:r>
              <a:r>
                <a:rPr lang="en-US" altLang="ko-KR" sz="1200" b="1" dirty="0" smtClean="0">
                  <a:solidFill>
                    <a:schemeClr val="bg1"/>
                  </a:solidFill>
                </a:rPr>
                <a:t>!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74646" y="762000"/>
            <a:ext cx="4118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*System Settings&gt; Basic Settings &gt; SNMP</a:t>
            </a:r>
            <a:endParaRPr lang="ko-KR" altLang="en-US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355579"/>
              </p:ext>
            </p:extLst>
          </p:nvPr>
        </p:nvGraphicFramePr>
        <p:xfrm>
          <a:off x="152400" y="1100707"/>
          <a:ext cx="4419600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7174">
                  <a:extLst>
                    <a:ext uri="{9D8B030D-6E8A-4147-A177-3AD203B41FA5}">
                      <a16:colId xmlns:a16="http://schemas.microsoft.com/office/drawing/2014/main" val="3884895912"/>
                    </a:ext>
                  </a:extLst>
                </a:gridCol>
                <a:gridCol w="2272426">
                  <a:extLst>
                    <a:ext uri="{9D8B030D-6E8A-4147-A177-3AD203B41FA5}">
                      <a16:colId xmlns:a16="http://schemas.microsoft.com/office/drawing/2014/main" val="2018977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SNMP(GET/SET)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설명 </a:t>
                      </a:r>
                      <a:endParaRPr lang="en-US" altLang="ko-KR" sz="1200" dirty="0" smtClean="0"/>
                    </a:p>
                    <a:p>
                      <a:pPr algn="ctr" latinLnBrk="1"/>
                      <a:r>
                        <a:rPr lang="en-US" altLang="ko-KR" sz="1200" dirty="0" smtClean="0"/>
                        <a:t>(</a:t>
                      </a:r>
                      <a:r>
                        <a:rPr lang="en-US" altLang="ko-KR" sz="1000" b="1" dirty="0" smtClean="0">
                          <a:solidFill>
                            <a:srgbClr val="FF0000"/>
                          </a:solidFill>
                        </a:rPr>
                        <a:t>SKT</a:t>
                      </a:r>
                      <a:r>
                        <a:rPr lang="en-US" altLang="ko-KR" sz="1000" b="1" baseline="0" dirty="0" smtClean="0">
                          <a:solidFill>
                            <a:srgbClr val="FF0000"/>
                          </a:solidFill>
                        </a:rPr>
                        <a:t> RMS </a:t>
                      </a:r>
                      <a:r>
                        <a:rPr lang="ko-KR" altLang="en-US" sz="1000" b="1" baseline="0" dirty="0" smtClean="0">
                          <a:solidFill>
                            <a:srgbClr val="FF0000"/>
                          </a:solidFill>
                        </a:rPr>
                        <a:t>연동 기준 </a:t>
                      </a:r>
                      <a:r>
                        <a:rPr lang="ko-KR" altLang="en-US" sz="1000" b="1" baseline="0" dirty="0" err="1" smtClean="0">
                          <a:solidFill>
                            <a:srgbClr val="FF0000"/>
                          </a:solidFill>
                        </a:rPr>
                        <a:t>설정값</a:t>
                      </a:r>
                      <a:r>
                        <a:rPr lang="en-US" altLang="ko-KR" sz="1000" b="1" baseline="0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32312"/>
                  </a:ext>
                </a:extLst>
              </a:tr>
              <a:tr h="1974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SNMP</a:t>
                      </a:r>
                      <a:r>
                        <a:rPr lang="en-US" altLang="ko-KR" sz="1200" baseline="0" dirty="0" smtClean="0"/>
                        <a:t> Version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SNMPv1&amp;SNMPv2C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84274"/>
                  </a:ext>
                </a:extLst>
              </a:tr>
              <a:tr h="1823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SNMP</a:t>
                      </a:r>
                      <a:r>
                        <a:rPr lang="en-US" altLang="ko-KR" sz="1200" baseline="0" dirty="0" smtClean="0"/>
                        <a:t> Port Number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161 (RMS</a:t>
                      </a:r>
                      <a:r>
                        <a:rPr lang="ko-KR" altLang="en-US" sz="1200" dirty="0" smtClean="0"/>
                        <a:t>에서 축전지 시스템 </a:t>
                      </a:r>
                      <a:endParaRPr lang="en-US" altLang="ko-KR" sz="1200" dirty="0" smtClean="0"/>
                    </a:p>
                    <a:p>
                      <a:pPr latinLnBrk="1"/>
                      <a:r>
                        <a:rPr lang="en-US" altLang="ko-KR" sz="1200" dirty="0" smtClean="0"/>
                        <a:t>GET/SET</a:t>
                      </a:r>
                      <a:r>
                        <a:rPr lang="ko-KR" altLang="en-US" sz="1200" dirty="0" smtClean="0"/>
                        <a:t>시 사용되는 포트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177690"/>
                  </a:ext>
                </a:extLst>
              </a:tr>
              <a:tr h="2288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Change SNMP Community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변경 시 체크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9917184"/>
                  </a:ext>
                </a:extLst>
              </a:tr>
              <a:tr h="1974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Read</a:t>
                      </a:r>
                      <a:r>
                        <a:rPr lang="en-US" altLang="ko-KR" sz="1200" baseline="0" dirty="0" smtClean="0"/>
                        <a:t> Community Name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조회 시 사용되는 </a:t>
                      </a:r>
                      <a:r>
                        <a:rPr lang="en-US" altLang="ko-KR" sz="1200" baseline="0" dirty="0" smtClean="0"/>
                        <a:t>Community </a:t>
                      </a:r>
                      <a:r>
                        <a:rPr lang="ko-KR" altLang="en-US" sz="1200" baseline="0" dirty="0" smtClean="0"/>
                        <a:t>값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9104638"/>
                  </a:ext>
                </a:extLst>
              </a:tr>
              <a:tr h="1823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Write</a:t>
                      </a:r>
                      <a:r>
                        <a:rPr lang="en-US" altLang="ko-KR" sz="1200" baseline="0" dirty="0" smtClean="0"/>
                        <a:t> Community Name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/>
                        <a:t>설정 시 사용되는 </a:t>
                      </a:r>
                      <a:r>
                        <a:rPr lang="en-US" altLang="ko-KR" sz="1200" baseline="0" dirty="0" smtClean="0"/>
                        <a:t>Community </a:t>
                      </a:r>
                      <a:r>
                        <a:rPr lang="ko-KR" altLang="en-US" sz="1200" baseline="0" dirty="0" smtClean="0"/>
                        <a:t>값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34836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64E682A-BA35-B6C4-9AE9-07A9DFDBCDF3}"/>
              </a:ext>
            </a:extLst>
          </p:cNvPr>
          <p:cNvSpPr txBox="1"/>
          <p:nvPr/>
        </p:nvSpPr>
        <p:spPr>
          <a:xfrm>
            <a:off x="381000" y="1128265"/>
            <a:ext cx="41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①</a:t>
            </a:r>
          </a:p>
        </p:txBody>
      </p:sp>
      <p:cxnSp>
        <p:nvCxnSpPr>
          <p:cNvPr id="27" name="꺾인 연결선 26"/>
          <p:cNvCxnSpPr>
            <a:stCxn id="10" idx="2"/>
          </p:cNvCxnSpPr>
          <p:nvPr/>
        </p:nvCxnSpPr>
        <p:spPr>
          <a:xfrm rot="16200000" flipH="1">
            <a:off x="2177141" y="3684833"/>
            <a:ext cx="1741718" cy="137160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447426"/>
              </p:ext>
            </p:extLst>
          </p:nvPr>
        </p:nvGraphicFramePr>
        <p:xfrm>
          <a:off x="4626284" y="1100707"/>
          <a:ext cx="4419600" cy="20234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3884895912"/>
                    </a:ext>
                  </a:extLst>
                </a:gridCol>
              </a:tblGrid>
              <a:tr h="347093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SNMP</a:t>
                      </a:r>
                      <a:r>
                        <a:rPr lang="en-US" altLang="ko-KR" sz="1200" baseline="0" dirty="0" smtClean="0"/>
                        <a:t> Trap </a:t>
                      </a:r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(※ </a:t>
                      </a:r>
                      <a:r>
                        <a:rPr lang="ko-KR" altLang="en-US" sz="12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최대 </a:t>
                      </a:r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2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개 </a:t>
                      </a:r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Trap Target </a:t>
                      </a:r>
                      <a:r>
                        <a:rPr lang="ko-KR" altLang="en-US" sz="12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설정 가능</a:t>
                      </a:r>
                      <a:r>
                        <a:rPr lang="en-US" altLang="ko-KR" sz="1200" b="1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32312"/>
                  </a:ext>
                </a:extLst>
              </a:tr>
              <a:tr h="167640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84274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064E682A-BA35-B6C4-9AE9-07A9DFDBCDF3}"/>
              </a:ext>
            </a:extLst>
          </p:cNvPr>
          <p:cNvSpPr txBox="1"/>
          <p:nvPr/>
        </p:nvSpPr>
        <p:spPr>
          <a:xfrm>
            <a:off x="4891301" y="1061576"/>
            <a:ext cx="415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612966" y="1466820"/>
            <a:ext cx="3758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추가</a:t>
            </a:r>
            <a:endParaRPr lang="en-US" altLang="ko-KR" sz="1200" dirty="0" smtClean="0"/>
          </a:p>
          <a:p>
            <a:r>
              <a:rPr lang="en-US" altLang="ko-KR" sz="1200" dirty="0"/>
              <a:t> Add </a:t>
            </a:r>
            <a:r>
              <a:rPr lang="ko-KR" altLang="en-US" sz="1200" dirty="0"/>
              <a:t>버튼을 </a:t>
            </a:r>
            <a:r>
              <a:rPr lang="ko-KR" altLang="en-US" sz="1200" dirty="0" smtClean="0"/>
              <a:t>클릭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팝업 창에서  </a:t>
            </a:r>
            <a:r>
              <a:rPr lang="en-US" altLang="ko-KR" sz="1200" dirty="0" smtClean="0"/>
              <a:t>IP </a:t>
            </a:r>
            <a:r>
              <a:rPr lang="ko-KR" altLang="en-US" sz="1200" dirty="0" smtClean="0"/>
              <a:t>주소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포트</a:t>
            </a:r>
            <a:r>
              <a:rPr lang="en-US" altLang="ko-KR" sz="1200" dirty="0" smtClean="0"/>
              <a:t>, Version, </a:t>
            </a:r>
          </a:p>
          <a:p>
            <a:r>
              <a:rPr lang="en-US" altLang="ko-KR" sz="1200" dirty="0" smtClean="0"/>
              <a:t>Trap Community </a:t>
            </a:r>
            <a:r>
              <a:rPr lang="ko-KR" altLang="en-US" sz="1200" dirty="0" smtClean="0"/>
              <a:t>값을 추가</a:t>
            </a:r>
            <a:r>
              <a:rPr lang="en-US" altLang="ko-KR" sz="1200" dirty="0" smtClean="0"/>
              <a:t>. Version</a:t>
            </a:r>
            <a:r>
              <a:rPr lang="ko-KR" altLang="en-US" sz="1200" dirty="0" smtClean="0"/>
              <a:t>은 </a:t>
            </a:r>
            <a:r>
              <a:rPr lang="en-US" altLang="ko-KR" sz="1200" dirty="0" smtClean="0"/>
              <a:t>SNMPv2c</a:t>
            </a:r>
            <a:r>
              <a:rPr lang="ko-KR" altLang="en-US" sz="1200" dirty="0" smtClean="0"/>
              <a:t>로 설정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5344" y="2109058"/>
            <a:ext cx="4366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변경</a:t>
            </a:r>
            <a:endParaRPr lang="en-US" altLang="ko-KR" sz="1200" dirty="0"/>
          </a:p>
          <a:p>
            <a:r>
              <a:rPr lang="en-US" altLang="ko-KR" sz="1200" dirty="0"/>
              <a:t>Modify </a:t>
            </a:r>
            <a:r>
              <a:rPr lang="ko-KR" altLang="en-US" sz="1200" dirty="0"/>
              <a:t>버튼을 </a:t>
            </a:r>
            <a:r>
              <a:rPr lang="ko-KR" altLang="en-US" sz="1200" dirty="0" smtClean="0"/>
              <a:t>클릭</a:t>
            </a:r>
            <a:r>
              <a:rPr lang="en-US" altLang="ko-KR" sz="1200" dirty="0" smtClean="0"/>
              <a:t>, </a:t>
            </a:r>
            <a:r>
              <a:rPr lang="en-US" altLang="ko-KR" sz="1200" dirty="0"/>
              <a:t>IP </a:t>
            </a:r>
            <a:r>
              <a:rPr lang="ko-KR" altLang="en-US" sz="1200" dirty="0"/>
              <a:t>주소</a:t>
            </a:r>
            <a:r>
              <a:rPr lang="en-US" altLang="ko-KR" sz="1200" dirty="0"/>
              <a:t>, </a:t>
            </a:r>
            <a:r>
              <a:rPr lang="ko-KR" altLang="en-US" sz="1200" dirty="0"/>
              <a:t>포트</a:t>
            </a:r>
            <a:r>
              <a:rPr lang="en-US" altLang="ko-KR" sz="1200" dirty="0"/>
              <a:t>, Version, </a:t>
            </a:r>
            <a:r>
              <a:rPr lang="en-US" altLang="ko-KR" sz="1200" dirty="0" smtClean="0"/>
              <a:t>Trap </a:t>
            </a:r>
            <a:r>
              <a:rPr lang="en-US" altLang="ko-KR" sz="1200" dirty="0"/>
              <a:t>Community </a:t>
            </a:r>
            <a:r>
              <a:rPr lang="ko-KR" altLang="en-US" sz="1200" dirty="0" smtClean="0"/>
              <a:t>변경</a:t>
            </a:r>
            <a:endParaRPr lang="en-US" altLang="ko-KR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4625344" y="2587138"/>
            <a:ext cx="4000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삭제</a:t>
            </a:r>
            <a:endParaRPr lang="en-US" altLang="ko-KR" sz="1200" dirty="0"/>
          </a:p>
          <a:p>
            <a:r>
              <a:rPr lang="ko-KR" altLang="en-US" sz="1200" dirty="0" smtClean="0"/>
              <a:t>추가 된 </a:t>
            </a:r>
            <a:r>
              <a:rPr lang="en-US" altLang="ko-KR" sz="1200" dirty="0" smtClean="0"/>
              <a:t>Trap list </a:t>
            </a:r>
            <a:r>
              <a:rPr lang="ko-KR" altLang="en-US" sz="1200" dirty="0" smtClean="0"/>
              <a:t>테이블에서</a:t>
            </a:r>
            <a:r>
              <a:rPr lang="en-US" altLang="ko-KR" sz="1200" dirty="0" smtClean="0"/>
              <a:t>, O </a:t>
            </a:r>
            <a:r>
              <a:rPr lang="ko-KR" altLang="en-US" sz="1200" dirty="0" smtClean="0"/>
              <a:t>를 체크 후 </a:t>
            </a:r>
            <a:r>
              <a:rPr lang="en-US" altLang="ko-KR" sz="1200" dirty="0" smtClean="0"/>
              <a:t>Delete </a:t>
            </a:r>
            <a:r>
              <a:rPr lang="ko-KR" altLang="en-US" sz="1200" dirty="0" smtClean="0"/>
              <a:t>버튼 클릭</a:t>
            </a:r>
            <a:endParaRPr lang="en-US" altLang="ko-KR" sz="12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D611F1B-9486-421C-9288-FEBCE5EF8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91" y="5124669"/>
            <a:ext cx="1301910" cy="1136016"/>
          </a:xfrm>
          <a:prstGeom prst="rect">
            <a:avLst/>
          </a:prstGeom>
        </p:spPr>
      </p:pic>
      <p:cxnSp>
        <p:nvCxnSpPr>
          <p:cNvPr id="21" name="직선 화살표 연결선 20"/>
          <p:cNvCxnSpPr/>
          <p:nvPr/>
        </p:nvCxnSpPr>
        <p:spPr>
          <a:xfrm flipH="1" flipV="1">
            <a:off x="1414375" y="6168309"/>
            <a:ext cx="314142" cy="2775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564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모서리가 둥근 직사각형 14"/>
          <p:cNvSpPr/>
          <p:nvPr/>
        </p:nvSpPr>
        <p:spPr>
          <a:xfrm>
            <a:off x="2442882" y="1219200"/>
            <a:ext cx="4338918" cy="1592252"/>
          </a:xfrm>
          <a:prstGeom prst="roundRect">
            <a:avLst/>
          </a:prstGeom>
          <a:solidFill>
            <a:schemeClr val="tx2">
              <a:lumMod val="20000"/>
              <a:lumOff val="80000"/>
              <a:alpha val="31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7EE42D-FE0B-4AF2-8B66-2687DE9D0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95600"/>
            <a:ext cx="8129481" cy="3581400"/>
          </a:xfrm>
          <a:prstGeom prst="rect">
            <a:avLst/>
          </a:prstGeom>
        </p:spPr>
      </p:pic>
      <p:grpSp>
        <p:nvGrpSpPr>
          <p:cNvPr id="6" name="그룹 5"/>
          <p:cNvGrpSpPr/>
          <p:nvPr/>
        </p:nvGrpSpPr>
        <p:grpSpPr>
          <a:xfrm>
            <a:off x="533400" y="1371600"/>
            <a:ext cx="1909482" cy="1371600"/>
            <a:chOff x="3352800" y="533400"/>
            <a:chExt cx="1909482" cy="137160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2800" y="533400"/>
              <a:ext cx="1909482" cy="1371600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62400" y="762000"/>
              <a:ext cx="727683" cy="544454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/>
        </p:nvSpPr>
        <p:spPr>
          <a:xfrm>
            <a:off x="2606629" y="1303347"/>
            <a:ext cx="4152099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1. </a:t>
            </a:r>
            <a:r>
              <a:rPr lang="ko-KR" altLang="en-US" sz="1400" dirty="0" err="1" smtClean="0"/>
              <a:t>웹브라우저</a:t>
            </a:r>
            <a:r>
              <a:rPr lang="ko-KR" altLang="en-US" sz="1400" dirty="0" smtClean="0"/>
              <a:t> </a:t>
            </a:r>
            <a:r>
              <a:rPr lang="ko-KR" altLang="en-US" sz="1400" dirty="0" err="1"/>
              <a:t>주소창에</a:t>
            </a:r>
            <a:r>
              <a:rPr lang="ko-KR" altLang="en-US" sz="1400" dirty="0"/>
              <a:t> 다음 주소를 입력하여 접속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en-US" altLang="ko-KR" sz="2400" dirty="0" smtClean="0">
                <a:solidFill>
                  <a:srgbClr val="FF0000"/>
                </a:solidFill>
              </a:rPr>
              <a:t>https</a:t>
            </a:r>
            <a:r>
              <a:rPr lang="en-US" altLang="ko-KR" sz="1400" dirty="0" smtClean="0">
                <a:solidFill>
                  <a:srgbClr val="FF0000"/>
                </a:solidFill>
              </a:rPr>
              <a:t>://192.168.0.10”             </a:t>
            </a:r>
            <a:r>
              <a:rPr lang="en-US" altLang="ko-KR" sz="1200" dirty="0" smtClean="0"/>
              <a:t>(</a:t>
            </a:r>
            <a:r>
              <a:rPr lang="en-US" altLang="ko-KR" sz="1200" dirty="0" smtClean="0">
                <a:latin typeface="맑은 고딕" panose="020B0503020000020004" pitchFamily="50" charset="-127"/>
              </a:rPr>
              <a:t>※ </a:t>
            </a:r>
            <a:r>
              <a:rPr lang="ko-KR" altLang="en-US" sz="1200" dirty="0" smtClean="0">
                <a:latin typeface="맑은 고딕" panose="020B0503020000020004" pitchFamily="50" charset="-127"/>
              </a:rPr>
              <a:t>크롬 권장</a:t>
            </a:r>
            <a:r>
              <a:rPr lang="en-US" altLang="ko-KR" sz="1200" dirty="0" smtClean="0">
                <a:latin typeface="맑은 고딕" panose="020B0503020000020004" pitchFamily="50" charset="-127"/>
              </a:rPr>
              <a:t>)</a:t>
            </a:r>
          </a:p>
          <a:p>
            <a:endParaRPr lang="en-US" altLang="ko-KR" sz="1200" dirty="0" smtClean="0">
              <a:latin typeface="맑은 고딕" panose="020B0503020000020004" pitchFamily="50" charset="-127"/>
            </a:endParaRPr>
          </a:p>
          <a:p>
            <a:r>
              <a:rPr lang="en-US" altLang="ko-KR" sz="1400" dirty="0" smtClean="0">
                <a:latin typeface="맑은 고딕" panose="020B0503020000020004" pitchFamily="50" charset="-127"/>
              </a:rPr>
              <a:t>2. </a:t>
            </a:r>
            <a:r>
              <a:rPr lang="ko-KR" altLang="en-US" sz="1400" dirty="0" smtClean="0">
                <a:latin typeface="맑은 고딕" panose="020B0503020000020004" pitchFamily="50" charset="-127"/>
              </a:rPr>
              <a:t>아래 초기 로그인 정보를 확인하여 로그인</a:t>
            </a:r>
            <a:r>
              <a:rPr lang="en-US" altLang="ko-KR" sz="1400" dirty="0" smtClean="0"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 sz="1400" dirty="0" smtClean="0"/>
              <a:t>Default ID: admin</a:t>
            </a:r>
          </a:p>
          <a:p>
            <a:r>
              <a:rPr lang="en-US" altLang="ko-KR" sz="1400" dirty="0" smtClean="0"/>
              <a:t>Password: </a:t>
            </a:r>
            <a:r>
              <a:rPr lang="en-US" altLang="ko-KR" sz="1400" dirty="0" err="1" smtClean="0"/>
              <a:t>Changeme</a:t>
            </a:r>
            <a:endParaRPr lang="ko-KR" altLang="en-US" sz="14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662" y="0"/>
            <a:ext cx="9143337" cy="36241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11972">
              <a:spcBef>
                <a:spcPts val="94"/>
              </a:spcBef>
            </a:pP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Ⅱ. </a:t>
            </a:r>
            <a:r>
              <a:rPr lang="ko-KR" altLang="en-US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축전지 시스템  웹 접속</a:t>
            </a:r>
            <a:endParaRPr lang="ko-KR" altLang="en-US" sz="2309" spc="-255" baseline="1543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뫼비우스 Bold" panose="02000500000000000000" pitchFamily="2" charset="-127"/>
              <a:ea typeface="뫼비우스 Bold" panose="02000500000000000000" pitchFamily="2" charset="-127"/>
              <a:cs typeface="Gothic A1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2895600" y="401959"/>
            <a:ext cx="3283738" cy="360041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1.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웹 접속 및 로그인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4343400" y="2514600"/>
            <a:ext cx="1447801" cy="236220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767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모서리가 둥근 직사각형 20"/>
          <p:cNvSpPr/>
          <p:nvPr/>
        </p:nvSpPr>
        <p:spPr>
          <a:xfrm>
            <a:off x="6829425" y="5837516"/>
            <a:ext cx="2033043" cy="5531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A33E825-8A88-4009-80A1-E2D56B524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04" y="4342671"/>
            <a:ext cx="6036296" cy="236747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04" y="1219200"/>
            <a:ext cx="3412314" cy="243378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219200"/>
            <a:ext cx="3276600" cy="2990121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662" y="0"/>
            <a:ext cx="9143337" cy="36241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11972">
              <a:spcBef>
                <a:spcPts val="94"/>
              </a:spcBef>
            </a:pP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Ⅱ. </a:t>
            </a:r>
            <a:r>
              <a:rPr lang="ko-KR" altLang="en-US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축전지 시스템  웹 접속</a:t>
            </a:r>
            <a:endParaRPr lang="ko-KR" altLang="en-US" sz="2309" spc="-255" baseline="1543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뫼비우스 Bold" panose="02000500000000000000" pitchFamily="2" charset="-127"/>
              <a:ea typeface="뫼비우스 Bold" panose="02000500000000000000" pitchFamily="2" charset="-127"/>
              <a:cs typeface="Gothic A1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2895600" y="401959"/>
            <a:ext cx="3283738" cy="360041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4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2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.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웹 접속 확인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6800" y="832010"/>
            <a:ext cx="7086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latin typeface="맑은 고딕" panose="020B0503020000020004" pitchFamily="50" charset="-127"/>
              </a:rPr>
              <a:t>(※</a:t>
            </a:r>
            <a:r>
              <a:rPr lang="ko-KR" altLang="en-US" sz="1000" b="1" dirty="0" smtClean="0">
                <a:ea typeface="뫼비우스 Bold" panose="02000500000000000000"/>
              </a:rPr>
              <a:t>사이트의 </a:t>
            </a:r>
            <a:r>
              <a:rPr lang="ko-KR" altLang="en-US" sz="1000" b="1" dirty="0">
                <a:ea typeface="뫼비우스 Bold" panose="02000500000000000000"/>
              </a:rPr>
              <a:t>보안 인증서가 없거나</a:t>
            </a:r>
            <a:r>
              <a:rPr lang="en-US" altLang="ko-KR" sz="1000" b="1" dirty="0">
                <a:ea typeface="뫼비우스 Bold" panose="02000500000000000000"/>
              </a:rPr>
              <a:t>, </a:t>
            </a:r>
            <a:r>
              <a:rPr lang="ko-KR" altLang="en-US" sz="1000" b="1" dirty="0">
                <a:ea typeface="뫼비우스 Bold" panose="02000500000000000000"/>
              </a:rPr>
              <a:t>만료되었거나</a:t>
            </a:r>
            <a:r>
              <a:rPr lang="en-US" altLang="ko-KR" sz="1000" b="1" dirty="0">
                <a:ea typeface="뫼비우스 Bold" panose="02000500000000000000"/>
              </a:rPr>
              <a:t>, </a:t>
            </a:r>
            <a:r>
              <a:rPr lang="ko-KR" altLang="en-US" sz="1000" b="1" dirty="0">
                <a:ea typeface="뫼비우스 Bold" panose="02000500000000000000"/>
              </a:rPr>
              <a:t>신뢰할 수 없는 </a:t>
            </a:r>
            <a:r>
              <a:rPr lang="ko-KR" altLang="en-US" sz="1000" b="1" dirty="0" smtClean="0">
                <a:ea typeface="뫼비우스 Bold" panose="02000500000000000000"/>
              </a:rPr>
              <a:t>경우</a:t>
            </a:r>
            <a:r>
              <a:rPr lang="en-US" altLang="ko-KR" sz="1000" b="1" dirty="0" smtClean="0">
                <a:ea typeface="뫼비우스 Bold" panose="02000500000000000000"/>
              </a:rPr>
              <a:t>, </a:t>
            </a:r>
            <a:r>
              <a:rPr lang="ko-KR" altLang="en-US" sz="1000" b="1" dirty="0" smtClean="0">
                <a:ea typeface="뫼비우스 Bold" panose="02000500000000000000"/>
              </a:rPr>
              <a:t>브라우저가 </a:t>
            </a:r>
            <a:r>
              <a:rPr lang="ko-KR" altLang="en-US" sz="1000" b="1" dirty="0">
                <a:ea typeface="뫼비우스 Bold" panose="02000500000000000000"/>
              </a:rPr>
              <a:t>“이 연결은 안전하지 </a:t>
            </a:r>
            <a:r>
              <a:rPr lang="ko-KR" altLang="en-US" sz="1000" b="1" dirty="0" err="1">
                <a:ea typeface="뫼비우스 Bold" panose="02000500000000000000"/>
              </a:rPr>
              <a:t>않다”고</a:t>
            </a:r>
            <a:r>
              <a:rPr lang="ko-KR" altLang="en-US" sz="1000" b="1" dirty="0">
                <a:ea typeface="뫼비우스 Bold" panose="02000500000000000000"/>
              </a:rPr>
              <a:t> </a:t>
            </a:r>
            <a:r>
              <a:rPr lang="ko-KR" altLang="en-US" sz="1000" b="1" dirty="0" smtClean="0">
                <a:ea typeface="뫼비우스 Bold" panose="02000500000000000000"/>
              </a:rPr>
              <a:t>경고</a:t>
            </a:r>
            <a:r>
              <a:rPr lang="en-US" altLang="ko-KR" sz="1000" b="1" dirty="0" smtClean="0">
                <a:ea typeface="뫼비우스 Bold" panose="02000500000000000000"/>
              </a:rPr>
              <a:t>)</a:t>
            </a:r>
            <a:endParaRPr lang="ko-KR" altLang="en-US" sz="1000" b="1" dirty="0">
              <a:ea typeface="뫼비우스 Bold" panose="02000500000000000000"/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1066800" y="3429000"/>
            <a:ext cx="3124200" cy="6096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H="1">
            <a:off x="2133600" y="4114800"/>
            <a:ext cx="2057400" cy="22787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34200" y="5867400"/>
            <a:ext cx="18806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 smtClean="0"/>
              <a:t>로그인이</a:t>
            </a:r>
            <a:r>
              <a:rPr lang="ko-KR" altLang="en-US" sz="1400" dirty="0" smtClean="0"/>
              <a:t> 성공할 경우</a:t>
            </a:r>
            <a:endParaRPr lang="en-US" altLang="ko-KR" sz="1400" dirty="0"/>
          </a:p>
          <a:p>
            <a:r>
              <a:rPr lang="ko-KR" altLang="en-US" sz="1400" dirty="0" smtClean="0"/>
              <a:t>접속 시간 정보 표시</a:t>
            </a:r>
            <a:endParaRPr lang="ko-KR" altLang="en-US" sz="1400" dirty="0"/>
          </a:p>
        </p:txBody>
      </p:sp>
      <p:cxnSp>
        <p:nvCxnSpPr>
          <p:cNvPr id="16" name="직선 화살표 연결선 15"/>
          <p:cNvCxnSpPr>
            <a:stCxn id="15" idx="1"/>
          </p:cNvCxnSpPr>
          <p:nvPr/>
        </p:nvCxnSpPr>
        <p:spPr>
          <a:xfrm flipH="1">
            <a:off x="4537469" y="6129010"/>
            <a:ext cx="2396731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5353" y="3615035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클릭</a:t>
            </a:r>
            <a:r>
              <a:rPr lang="en-US" altLang="ko-KR" sz="1400" dirty="0" smtClean="0"/>
              <a:t>!</a:t>
            </a:r>
            <a:endParaRPr lang="ko-KR" alt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5708667" y="3872551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클릭</a:t>
            </a:r>
            <a:r>
              <a:rPr lang="en-US" altLang="ko-KR" sz="1400" dirty="0" smtClean="0"/>
              <a:t>!</a:t>
            </a:r>
            <a:endParaRPr lang="ko-KR" altLang="en-US" sz="1400" dirty="0"/>
          </a:p>
        </p:txBody>
      </p:sp>
      <p:cxnSp>
        <p:nvCxnSpPr>
          <p:cNvPr id="22" name="직선 화살표 연결선 21"/>
          <p:cNvCxnSpPr/>
          <p:nvPr/>
        </p:nvCxnSpPr>
        <p:spPr>
          <a:xfrm flipH="1">
            <a:off x="1524000" y="1078231"/>
            <a:ext cx="685800" cy="67436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48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2895600" y="401959"/>
            <a:ext cx="3429000" cy="360041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3.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암호 변경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662" y="0"/>
            <a:ext cx="9143337" cy="36241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11972">
              <a:spcBef>
                <a:spcPts val="94"/>
              </a:spcBef>
            </a:pP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Ⅱ. </a:t>
            </a:r>
            <a:r>
              <a:rPr lang="ko-KR" altLang="en-US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축전지 시스템  웹 접속</a:t>
            </a:r>
            <a:endParaRPr lang="ko-KR" altLang="en-US" sz="2309" spc="-255" baseline="1543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뫼비우스 Bold" panose="02000500000000000000" pitchFamily="2" charset="-127"/>
              <a:ea typeface="뫼비우스 Bold" panose="02000500000000000000" pitchFamily="2" charset="-127"/>
              <a:cs typeface="Gothic A1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8808754" cy="335756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4453560"/>
            <a:ext cx="4199469" cy="2252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5334000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암호 추가</a:t>
            </a:r>
            <a:r>
              <a:rPr lang="en-US" altLang="ko-KR" dirty="0" smtClean="0"/>
              <a:t>/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/</a:t>
            </a:r>
            <a:r>
              <a:rPr lang="ko-KR" altLang="en-US" dirty="0" smtClean="0"/>
              <a:t>삭제</a:t>
            </a:r>
            <a:endParaRPr lang="en-US" altLang="ko-KR" dirty="0" smtClean="0"/>
          </a:p>
          <a:p>
            <a:r>
              <a:rPr lang="en-US" altLang="ko-KR" dirty="0" smtClean="0"/>
              <a:t>   *Maintenance&gt; User Management</a:t>
            </a:r>
            <a:endParaRPr lang="ko-KR" altLang="en-US" dirty="0"/>
          </a:p>
        </p:txBody>
      </p:sp>
      <p:sp>
        <p:nvSpPr>
          <p:cNvPr id="2" name="왼쪽 화살표 1"/>
          <p:cNvSpPr/>
          <p:nvPr/>
        </p:nvSpPr>
        <p:spPr>
          <a:xfrm>
            <a:off x="6238052" y="1447800"/>
            <a:ext cx="2143948" cy="381000"/>
          </a:xfrm>
          <a:prstGeom prst="leftArrow">
            <a:avLst/>
          </a:prstGeom>
          <a:solidFill>
            <a:srgbClr val="1976FF"/>
          </a:solidFill>
          <a:ln>
            <a:solidFill>
              <a:srgbClr val="197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sktelecom011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551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270583" y="2072456"/>
            <a:ext cx="8572500" cy="1013511"/>
          </a:xfrm>
          <a:prstGeom prst="round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1506083"/>
            <a:ext cx="5800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*Monitoring&gt; Lithium Battery Group &gt; Running Parameter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44110" y="2169731"/>
            <a:ext cx="8085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충전 전류 제한 값</a:t>
            </a:r>
            <a:r>
              <a:rPr lang="en-US" altLang="ko-KR" dirty="0" smtClean="0"/>
              <a:t>(A)</a:t>
            </a:r>
            <a:r>
              <a:rPr lang="ko-KR" altLang="en-US" dirty="0" smtClean="0"/>
              <a:t> </a:t>
            </a:r>
            <a:r>
              <a:rPr lang="en-US" altLang="ko-KR" dirty="0" smtClean="0"/>
              <a:t>= (100A x </a:t>
            </a:r>
            <a:r>
              <a:rPr lang="ko-KR" altLang="en-US" dirty="0" smtClean="0"/>
              <a:t>서비스 중인 축전지 모듈 </a:t>
            </a:r>
            <a:r>
              <a:rPr lang="en-US" altLang="ko-KR" dirty="0" smtClean="0"/>
              <a:t>N x </a:t>
            </a:r>
            <a:r>
              <a:rPr lang="ko-KR" altLang="en-US" dirty="0" err="1" smtClean="0"/>
              <a:t>설정값</a:t>
            </a:r>
            <a:r>
              <a:rPr lang="en-US" altLang="ko-KR" dirty="0" smtClean="0"/>
              <a:t>(0.05~1.00)</a:t>
            </a:r>
          </a:p>
          <a:p>
            <a:pPr>
              <a:lnSpc>
                <a:spcPct val="150000"/>
              </a:lnSpc>
            </a:pPr>
            <a:r>
              <a:rPr lang="ko-KR" altLang="en-US" sz="1400" dirty="0" smtClean="0"/>
              <a:t>예</a:t>
            </a:r>
            <a:r>
              <a:rPr lang="en-US" altLang="ko-KR" sz="1400" dirty="0"/>
              <a:t>: </a:t>
            </a:r>
            <a:r>
              <a:rPr lang="ko-KR" altLang="en-US" sz="1400" dirty="0"/>
              <a:t>모듈 </a:t>
            </a:r>
            <a:r>
              <a:rPr lang="en-US" altLang="ko-KR" sz="1400" dirty="0"/>
              <a:t>10</a:t>
            </a:r>
            <a:r>
              <a:rPr lang="ko-KR" altLang="en-US" sz="1400" dirty="0"/>
              <a:t>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설정값</a:t>
            </a:r>
            <a:r>
              <a:rPr lang="ko-KR" altLang="en-US" sz="1400" dirty="0"/>
              <a:t> </a:t>
            </a:r>
            <a:r>
              <a:rPr lang="en-US" altLang="ko-KR" sz="1400" dirty="0"/>
              <a:t>0.05C → (100Ah × 10 × 0.05) = 50A, </a:t>
            </a:r>
            <a:r>
              <a:rPr lang="ko-KR" altLang="en-US" sz="1400" dirty="0"/>
              <a:t>즉 충전 전류는 </a:t>
            </a:r>
            <a:r>
              <a:rPr lang="en-US" altLang="ko-KR" sz="1400" dirty="0"/>
              <a:t>50A </a:t>
            </a:r>
            <a:r>
              <a:rPr lang="ko-KR" altLang="en-US" sz="1400" dirty="0"/>
              <a:t>이하로 제한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33" y="3295045"/>
            <a:ext cx="8587667" cy="2595383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662" y="0"/>
            <a:ext cx="9143337" cy="36241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11972">
              <a:spcBef>
                <a:spcPts val="94"/>
              </a:spcBef>
            </a:pPr>
            <a:r>
              <a:rPr lang="en-US" altLang="ko-KR" sz="2309" spc="-255" baseline="1543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Ⅲ</a:t>
            </a: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. </a:t>
            </a:r>
            <a:r>
              <a:rPr lang="ko-KR" altLang="en-US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주요 감시 항목</a:t>
            </a:r>
            <a:endParaRPr lang="ko-KR" altLang="en-US" sz="2309" spc="-255" baseline="1543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뫼비우스 Bold" panose="02000500000000000000" pitchFamily="2" charset="-127"/>
              <a:ea typeface="뫼비우스 Bold" panose="02000500000000000000" pitchFamily="2" charset="-127"/>
              <a:cs typeface="Gothic A1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2895600" y="401959"/>
            <a:ext cx="3283738" cy="360041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3.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충전 전류 제한 설정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257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0377" y="813096"/>
            <a:ext cx="4689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*Home &gt; System Overview &gt; System Overview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843288"/>
            <a:ext cx="8508978" cy="17449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578999"/>
            <a:ext cx="8508978" cy="2549659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/>
        </p:nvSpPr>
        <p:spPr>
          <a:xfrm>
            <a:off x="662" y="0"/>
            <a:ext cx="9143337" cy="36241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11972">
              <a:spcBef>
                <a:spcPts val="94"/>
              </a:spcBef>
            </a:pPr>
            <a:r>
              <a:rPr lang="en-US" altLang="ko-KR" sz="2309" spc="-255" baseline="1543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Ⅲ</a:t>
            </a: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. </a:t>
            </a:r>
            <a:r>
              <a:rPr lang="ko-KR" altLang="en-US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주요 감시 항목</a:t>
            </a:r>
            <a:endParaRPr lang="ko-KR" altLang="en-US" sz="2309" spc="-255" baseline="1543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뫼비우스 Bold" panose="02000500000000000000" pitchFamily="2" charset="-127"/>
              <a:ea typeface="뫼비우스 Bold" panose="02000500000000000000" pitchFamily="2" charset="-127"/>
              <a:cs typeface="Gothic A1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2895600" y="401959"/>
            <a:ext cx="3505200" cy="360041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5.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축전지 시스템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관리 </a:t>
            </a:r>
            <a:r>
              <a:rPr lang="ko-KR" altLang="en-US" sz="1400" b="1" kern="0" dirty="0" err="1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사이트명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변경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4768" y="1219200"/>
            <a:ext cx="6923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ea typeface="뫼비우스 Bold" panose="02000500000000000000"/>
              </a:rPr>
              <a:t>운영자가 설치된 축전지 시스템을 구분하기 위해 </a:t>
            </a:r>
            <a:r>
              <a:rPr lang="en-US" altLang="ko-KR" sz="1400" dirty="0" smtClean="0">
                <a:ea typeface="뫼비우스 Bold" panose="02000500000000000000"/>
              </a:rPr>
              <a:t>“Site ID” </a:t>
            </a:r>
            <a:r>
              <a:rPr lang="ko-KR" altLang="en-US" sz="1400" dirty="0" smtClean="0">
                <a:ea typeface="뫼비우스 Bold" panose="02000500000000000000"/>
              </a:rPr>
              <a:t>항목 활용</a:t>
            </a:r>
            <a:r>
              <a:rPr lang="en-US" altLang="ko-KR" sz="1400" dirty="0" smtClean="0">
                <a:ea typeface="뫼비우스 Bold" panose="02000500000000000000"/>
              </a:rPr>
              <a:t>.(</a:t>
            </a:r>
            <a:r>
              <a:rPr lang="ko-KR" altLang="en-US" sz="1400" dirty="0" smtClean="0">
                <a:solidFill>
                  <a:srgbClr val="FF0000"/>
                </a:solidFill>
                <a:ea typeface="뫼비우스 Bold" panose="02000500000000000000"/>
              </a:rPr>
              <a:t>한글 지원 안됨</a:t>
            </a:r>
            <a:r>
              <a:rPr lang="en-US" altLang="ko-KR" sz="1400" dirty="0" smtClean="0">
                <a:ea typeface="뫼비우스 Bold" panose="02000500000000000000"/>
              </a:rPr>
              <a:t>)</a:t>
            </a:r>
            <a:endParaRPr lang="ko-KR" altLang="en-US" sz="1400" dirty="0">
              <a:ea typeface="뫼비우스 Bold" panose="0200050000000000000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572000" y="5715000"/>
            <a:ext cx="21336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976362" y="2399014"/>
            <a:ext cx="838200" cy="2627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52400" y="4431268"/>
            <a:ext cx="447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*System Settings &gt; Basic Settings &gt; Site </a:t>
            </a:r>
            <a:r>
              <a:rPr lang="en-US" altLang="ko-KR" dirty="0" err="1" smtClean="0"/>
              <a:t>Config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/>
        </p:nvCxnSpPr>
        <p:spPr>
          <a:xfrm flipH="1" flipV="1">
            <a:off x="4805037" y="2743200"/>
            <a:ext cx="1586238" cy="297180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243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모서리가 둥근 직사각형 35"/>
          <p:cNvSpPr/>
          <p:nvPr/>
        </p:nvSpPr>
        <p:spPr>
          <a:xfrm>
            <a:off x="2105327" y="1697019"/>
            <a:ext cx="952412" cy="3337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4479352" y="1686450"/>
            <a:ext cx="4615619" cy="3337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68" y="2112660"/>
            <a:ext cx="8515350" cy="1981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377" y="813096"/>
            <a:ext cx="2332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*Home &gt; Active Alarm 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662" y="0"/>
            <a:ext cx="9143337" cy="36241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11972">
              <a:spcBef>
                <a:spcPts val="94"/>
              </a:spcBef>
            </a:pPr>
            <a:r>
              <a:rPr lang="en-US" altLang="ko-KR" sz="2309" spc="-255" baseline="1543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Ⅲ</a:t>
            </a: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. </a:t>
            </a:r>
            <a:r>
              <a:rPr lang="ko-KR" altLang="en-US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주요 감시 항목</a:t>
            </a:r>
            <a:endParaRPr lang="ko-KR" altLang="en-US" sz="2309" spc="-255" baseline="1543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뫼비우스 Bold" panose="02000500000000000000" pitchFamily="2" charset="-127"/>
              <a:ea typeface="뫼비우스 Bold" panose="02000500000000000000" pitchFamily="2" charset="-127"/>
              <a:cs typeface="Gothic A1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2895600" y="401959"/>
            <a:ext cx="3505200" cy="360041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4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6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. Active Alarm(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실시간 </a:t>
            </a:r>
            <a:r>
              <a:rPr lang="ko-KR" altLang="en-US" sz="1400" b="1" kern="0" dirty="0" err="1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알람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)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4768" y="1219200"/>
            <a:ext cx="3841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ea typeface="뫼비우스 Bold" panose="02000500000000000000"/>
              </a:rPr>
              <a:t>시스템에서 발생되는 실시간 </a:t>
            </a:r>
            <a:r>
              <a:rPr lang="ko-KR" altLang="en-US" sz="1400" dirty="0" err="1" smtClean="0">
                <a:ea typeface="뫼비우스 Bold" panose="02000500000000000000"/>
              </a:rPr>
              <a:t>알람</a:t>
            </a:r>
            <a:r>
              <a:rPr lang="ko-KR" altLang="en-US" sz="1400" dirty="0" smtClean="0">
                <a:ea typeface="뫼비우스 Bold" panose="02000500000000000000"/>
              </a:rPr>
              <a:t> 확인 페이지</a:t>
            </a:r>
            <a:r>
              <a:rPr lang="en-US" altLang="ko-KR" sz="1400" dirty="0" smtClean="0">
                <a:ea typeface="뫼비우스 Bold" panose="02000500000000000000"/>
              </a:rPr>
              <a:t>.</a:t>
            </a:r>
          </a:p>
          <a:p>
            <a:r>
              <a:rPr lang="en-US" altLang="ko-KR" sz="1000" dirty="0" smtClean="0">
                <a:ea typeface="뫼비우스 Bold" panose="02000500000000000000"/>
              </a:rPr>
              <a:t>                                                                          (※ </a:t>
            </a:r>
            <a:r>
              <a:rPr lang="ko-KR" altLang="en-US" sz="1000" dirty="0">
                <a:ea typeface="뫼비우스 Bold" panose="02000500000000000000"/>
              </a:rPr>
              <a:t>알람리스트는 별첨 참고</a:t>
            </a:r>
            <a:r>
              <a:rPr lang="en-US" altLang="ko-KR" sz="1000" dirty="0" smtClean="0">
                <a:ea typeface="뫼비우스 Bold" panose="02000500000000000000"/>
              </a:rPr>
              <a:t>)</a:t>
            </a:r>
            <a:endParaRPr lang="ko-KR" altLang="en-US" sz="1000" dirty="0">
              <a:ea typeface="뫼비우스 Bold" panose="0200050000000000000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14851" y="1749623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 smtClean="0"/>
              <a:t>알람</a:t>
            </a:r>
            <a:r>
              <a:rPr lang="ko-KR" altLang="en-US" sz="1400" dirty="0" smtClean="0"/>
              <a:t> </a:t>
            </a:r>
            <a:r>
              <a:rPr lang="ko-KR" altLang="en-US" sz="1400" dirty="0"/>
              <a:t>개</a:t>
            </a:r>
            <a:r>
              <a:rPr lang="ko-KR" altLang="en-US" sz="1400" dirty="0" smtClean="0"/>
              <a:t>수</a:t>
            </a:r>
            <a:endParaRPr lang="ko-KR" alt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4496823" y="1749623"/>
            <a:ext cx="4494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>
                <a:ea typeface="뫼비우스 Bold" panose="02000500000000000000"/>
              </a:rPr>
              <a:t>알람</a:t>
            </a:r>
            <a:r>
              <a:rPr lang="ko-KR" altLang="en-US" sz="1400" dirty="0" smtClean="0">
                <a:ea typeface="뫼비우스 Bold" panose="02000500000000000000"/>
              </a:rPr>
              <a:t> 등급별</a:t>
            </a:r>
            <a:r>
              <a:rPr lang="en-US" altLang="ko-KR" sz="1400" dirty="0" smtClean="0">
                <a:ea typeface="뫼비우스 Bold" panose="02000500000000000000"/>
              </a:rPr>
              <a:t>,</a:t>
            </a:r>
            <a:r>
              <a:rPr lang="ko-KR" altLang="en-US" sz="1400" dirty="0" smtClean="0">
                <a:ea typeface="뫼비우스 Bold" panose="02000500000000000000"/>
              </a:rPr>
              <a:t> </a:t>
            </a:r>
            <a:r>
              <a:rPr lang="en-US" altLang="ko-KR" sz="1400" dirty="0" smtClean="0">
                <a:ea typeface="뫼비우스 Bold" panose="02000500000000000000"/>
              </a:rPr>
              <a:t>View </a:t>
            </a:r>
            <a:r>
              <a:rPr lang="ko-KR" altLang="en-US" sz="1400" dirty="0" err="1" smtClean="0">
                <a:ea typeface="뫼비우스 Bold" panose="02000500000000000000"/>
              </a:rPr>
              <a:t>필터링</a:t>
            </a:r>
            <a:r>
              <a:rPr lang="en-US" altLang="ko-KR" sz="1400" dirty="0" smtClean="0">
                <a:ea typeface="뫼비우스 Bold" panose="02000500000000000000"/>
              </a:rPr>
              <a:t>: (Critical, Major, Minor, Warning)</a:t>
            </a:r>
            <a:endParaRPr lang="ko-KR" altLang="en-US" sz="1400" dirty="0">
              <a:ea typeface="뫼비우스 Bold" panose="02000500000000000000"/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 flipH="1">
            <a:off x="5486400" y="2035449"/>
            <a:ext cx="381000" cy="66505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15" idx="2"/>
          </p:cNvCxnSpPr>
          <p:nvPr/>
        </p:nvCxnSpPr>
        <p:spPr>
          <a:xfrm flipH="1">
            <a:off x="2482426" y="2057400"/>
            <a:ext cx="103869" cy="24378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68" y="4525655"/>
            <a:ext cx="8324850" cy="654469"/>
          </a:xfrm>
          <a:prstGeom prst="rect">
            <a:avLst/>
          </a:prstGeom>
        </p:spPr>
      </p:pic>
      <p:cxnSp>
        <p:nvCxnSpPr>
          <p:cNvPr id="19" name="직선 화살표 연결선 18"/>
          <p:cNvCxnSpPr/>
          <p:nvPr/>
        </p:nvCxnSpPr>
        <p:spPr>
          <a:xfrm flipH="1" flipV="1">
            <a:off x="6553200" y="3666659"/>
            <a:ext cx="843562" cy="112644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/>
          <p:cNvGrpSpPr/>
          <p:nvPr/>
        </p:nvGrpSpPr>
        <p:grpSpPr>
          <a:xfrm>
            <a:off x="6791776" y="5281903"/>
            <a:ext cx="1717842" cy="1447800"/>
            <a:chOff x="1787358" y="5252198"/>
            <a:chExt cx="1717842" cy="1447800"/>
          </a:xfrm>
        </p:grpSpPr>
        <p:sp>
          <p:nvSpPr>
            <p:cNvPr id="34" name="모서리가 둥근 직사각형 33"/>
            <p:cNvSpPr/>
            <p:nvPr/>
          </p:nvSpPr>
          <p:spPr>
            <a:xfrm>
              <a:off x="1787358" y="5252198"/>
              <a:ext cx="1717842" cy="1447800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>
                  <a:lumMod val="40000"/>
                  <a:lumOff val="60000"/>
                  <a:alpha val="4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6609" y="5380152"/>
              <a:ext cx="276225" cy="228600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46464" y="5697647"/>
              <a:ext cx="257175" cy="228600"/>
            </a:xfrm>
            <a:prstGeom prst="rect">
              <a:avLst/>
            </a:prstGeom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46464" y="6015142"/>
              <a:ext cx="247650" cy="238125"/>
            </a:xfrm>
            <a:prstGeom prst="rect">
              <a:avLst/>
            </a:prstGeom>
          </p:spPr>
        </p:pic>
        <p:pic>
          <p:nvPicPr>
            <p:cNvPr id="27" name="그림 2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74709" y="6351687"/>
              <a:ext cx="238125" cy="24765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2432907" y="5358175"/>
              <a:ext cx="7298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Critical </a:t>
              </a:r>
              <a:endParaRPr lang="ko-KR" altLang="en-US" sz="14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432907" y="5677484"/>
              <a:ext cx="6655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Major </a:t>
              </a:r>
              <a:endParaRPr lang="ko-KR" altLang="en-US" sz="14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432907" y="6015334"/>
              <a:ext cx="6719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Minor </a:t>
              </a:r>
              <a:endParaRPr lang="ko-KR" altLang="en-US" sz="140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432907" y="6321623"/>
              <a:ext cx="8436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Warning </a:t>
              </a:r>
              <a:endParaRPr lang="ko-KR" altLang="en-US" sz="1400" dirty="0"/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184768" y="5307374"/>
            <a:ext cx="6444632" cy="340485"/>
            <a:chOff x="184768" y="5707189"/>
            <a:chExt cx="6444632" cy="340485"/>
          </a:xfrm>
        </p:grpSpPr>
        <p:sp>
          <p:nvSpPr>
            <p:cNvPr id="38" name="모서리가 둥근 직사각형 37"/>
            <p:cNvSpPr/>
            <p:nvPr/>
          </p:nvSpPr>
          <p:spPr>
            <a:xfrm>
              <a:off x="184768" y="5707189"/>
              <a:ext cx="6444632" cy="337658"/>
            </a:xfrm>
            <a:prstGeom prst="roundRect">
              <a:avLst/>
            </a:prstGeom>
            <a:solidFill>
              <a:srgbClr val="F79646"/>
            </a:solidFill>
            <a:ln>
              <a:solidFill>
                <a:srgbClr val="F79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01447" y="5739897"/>
              <a:ext cx="64107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 err="1">
                  <a:solidFill>
                    <a:schemeClr val="bg1"/>
                  </a:solidFill>
                </a:rPr>
                <a:t>알람</a:t>
              </a:r>
              <a:r>
                <a:rPr lang="ko-KR" altLang="en-US" sz="1400" dirty="0">
                  <a:solidFill>
                    <a:schemeClr val="bg1"/>
                  </a:solidFill>
                </a:rPr>
                <a:t> 아이콘을 클릭하면 실시간 </a:t>
              </a:r>
              <a:r>
                <a:rPr lang="ko-KR" altLang="en-US" sz="1400" dirty="0" err="1">
                  <a:solidFill>
                    <a:schemeClr val="bg1"/>
                  </a:solidFill>
                </a:rPr>
                <a:t>알람</a:t>
              </a:r>
              <a:r>
                <a:rPr lang="ko-KR" altLang="en-US" sz="1400" dirty="0">
                  <a:solidFill>
                    <a:schemeClr val="bg1"/>
                  </a:solidFill>
                </a:rPr>
                <a:t> 확인 페이지로 이동</a:t>
              </a:r>
              <a:r>
                <a:rPr lang="en-US" altLang="ko-KR" sz="1400" dirty="0">
                  <a:solidFill>
                    <a:schemeClr val="bg1"/>
                  </a:solidFill>
                </a:rPr>
                <a:t>, </a:t>
              </a:r>
              <a:r>
                <a:rPr lang="ko-KR" altLang="en-US" sz="1400" dirty="0">
                  <a:solidFill>
                    <a:schemeClr val="bg1"/>
                  </a:solidFill>
                </a:rPr>
                <a:t>해당 등급 </a:t>
              </a:r>
              <a:r>
                <a:rPr lang="ko-KR" altLang="en-US" sz="1400" dirty="0" err="1">
                  <a:solidFill>
                    <a:schemeClr val="bg1"/>
                  </a:solidFill>
                </a:rPr>
                <a:t>알람</a:t>
              </a:r>
              <a:r>
                <a:rPr lang="ko-KR" altLang="en-US" sz="1400" dirty="0">
                  <a:solidFill>
                    <a:schemeClr val="bg1"/>
                  </a:solidFill>
                </a:rPr>
                <a:t> 확인</a:t>
              </a:r>
              <a:r>
                <a:rPr lang="en-US" altLang="ko-KR" sz="1400" dirty="0">
                  <a:solidFill>
                    <a:schemeClr val="bg1"/>
                  </a:solidFill>
                </a:rPr>
                <a:t>.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3470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모서리가 둥근 직사각형 40"/>
          <p:cNvSpPr/>
          <p:nvPr/>
        </p:nvSpPr>
        <p:spPr>
          <a:xfrm>
            <a:off x="3631678" y="6245423"/>
            <a:ext cx="1016522" cy="37709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모서리가 둥근 직사각형 39"/>
          <p:cNvSpPr/>
          <p:nvPr/>
        </p:nvSpPr>
        <p:spPr>
          <a:xfrm>
            <a:off x="1153900" y="6245423"/>
            <a:ext cx="1016522" cy="37709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5658837" y="1981200"/>
            <a:ext cx="2033043" cy="37709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50377" y="813096"/>
            <a:ext cx="2692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*Query &gt; Historical Alarm 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662" y="0"/>
            <a:ext cx="9143337" cy="36241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11972">
              <a:spcBef>
                <a:spcPts val="94"/>
              </a:spcBef>
            </a:pPr>
            <a:r>
              <a:rPr lang="en-US" altLang="ko-KR" sz="2309" spc="-255" baseline="1543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Ⅲ</a:t>
            </a: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. </a:t>
            </a:r>
            <a:r>
              <a:rPr lang="ko-KR" altLang="en-US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주요 감시 항목</a:t>
            </a:r>
            <a:endParaRPr lang="ko-KR" altLang="en-US" sz="2309" spc="-255" baseline="1543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뫼비우스 Bold" panose="02000500000000000000" pitchFamily="2" charset="-127"/>
              <a:ea typeface="뫼비우스 Bold" panose="02000500000000000000" pitchFamily="2" charset="-127"/>
              <a:cs typeface="Gothic A1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2895600" y="401959"/>
            <a:ext cx="3505200" cy="360041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7. Historical Alarm(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이력 </a:t>
            </a:r>
            <a:r>
              <a:rPr lang="ko-KR" altLang="en-US" sz="1400" b="1" kern="0" dirty="0" err="1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알람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)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4768" y="1219200"/>
            <a:ext cx="3522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ea typeface="뫼비우스 Bold" panose="02000500000000000000"/>
              </a:rPr>
              <a:t>시스템에서 발생 된</a:t>
            </a:r>
            <a:r>
              <a:rPr lang="en-US" altLang="ko-KR" sz="1400" dirty="0" smtClean="0">
                <a:ea typeface="뫼비우스 Bold" panose="02000500000000000000"/>
              </a:rPr>
              <a:t> </a:t>
            </a:r>
            <a:r>
              <a:rPr lang="ko-KR" altLang="en-US" sz="1400" dirty="0" smtClean="0">
                <a:ea typeface="뫼비우스 Bold" panose="02000500000000000000"/>
              </a:rPr>
              <a:t>이력 </a:t>
            </a:r>
            <a:r>
              <a:rPr lang="ko-KR" altLang="en-US" sz="1400" dirty="0" err="1" smtClean="0">
                <a:ea typeface="뫼비우스 Bold" panose="02000500000000000000"/>
              </a:rPr>
              <a:t>알람</a:t>
            </a:r>
            <a:r>
              <a:rPr lang="ko-KR" altLang="en-US" sz="1400" dirty="0" smtClean="0">
                <a:ea typeface="뫼비우스 Bold" panose="02000500000000000000"/>
              </a:rPr>
              <a:t> 확인 페이지</a:t>
            </a:r>
            <a:r>
              <a:rPr lang="en-US" altLang="ko-KR" sz="1400" dirty="0" smtClean="0">
                <a:ea typeface="뫼비우스 Bold" panose="02000500000000000000"/>
              </a:rPr>
              <a:t>.</a:t>
            </a:r>
          </a:p>
          <a:p>
            <a:r>
              <a:rPr lang="en-US" altLang="ko-KR" sz="1000" dirty="0" smtClean="0">
                <a:ea typeface="뫼비우스 Bold" panose="02000500000000000000"/>
              </a:rPr>
              <a:t>                                                             (※ </a:t>
            </a:r>
            <a:r>
              <a:rPr lang="ko-KR" altLang="en-US" sz="1000" dirty="0">
                <a:ea typeface="뫼비우스 Bold" panose="02000500000000000000"/>
              </a:rPr>
              <a:t>알람리스트는 별첨 참고</a:t>
            </a:r>
            <a:r>
              <a:rPr lang="en-US" altLang="ko-KR" sz="1000" dirty="0">
                <a:ea typeface="뫼비우스 Bold" panose="02000500000000000000"/>
              </a:rPr>
              <a:t>)</a:t>
            </a:r>
            <a:endParaRPr lang="ko-KR" altLang="en-US" sz="1000" dirty="0">
              <a:ea typeface="뫼비우스 Bold" panose="02000500000000000000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71" y="2438399"/>
            <a:ext cx="8718317" cy="37308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15000" y="2038813"/>
            <a:ext cx="19207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 smtClean="0"/>
              <a:t>날짜별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알람</a:t>
            </a:r>
            <a:r>
              <a:rPr lang="ko-KR" altLang="en-US" sz="1400" dirty="0" smtClean="0"/>
              <a:t> 이력 조회</a:t>
            </a:r>
            <a:endParaRPr lang="ko-KR" altLang="en-US" sz="1400" dirty="0"/>
          </a:p>
        </p:txBody>
      </p:sp>
      <p:cxnSp>
        <p:nvCxnSpPr>
          <p:cNvPr id="26" name="직선 화살표 연결선 25"/>
          <p:cNvCxnSpPr>
            <a:stCxn id="25" idx="2"/>
            <a:endCxn id="27" idx="0"/>
          </p:cNvCxnSpPr>
          <p:nvPr/>
        </p:nvCxnSpPr>
        <p:spPr>
          <a:xfrm flipH="1">
            <a:off x="6057900" y="2346590"/>
            <a:ext cx="617460" cy="70141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4572000" y="3048000"/>
            <a:ext cx="29718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1227534" y="6321623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 smtClean="0"/>
              <a:t>알람</a:t>
            </a:r>
            <a:r>
              <a:rPr lang="ko-KR" altLang="en-US" sz="1400" dirty="0" smtClean="0"/>
              <a:t> 등급</a:t>
            </a:r>
            <a:endParaRPr lang="ko-KR" altLang="en-US" sz="1400" dirty="0"/>
          </a:p>
        </p:txBody>
      </p:sp>
      <p:cxnSp>
        <p:nvCxnSpPr>
          <p:cNvPr id="30" name="직선 화살표 연결선 29"/>
          <p:cNvCxnSpPr>
            <a:stCxn id="29" idx="0"/>
          </p:cNvCxnSpPr>
          <p:nvPr/>
        </p:nvCxnSpPr>
        <p:spPr>
          <a:xfrm flipV="1">
            <a:off x="1698978" y="6093023"/>
            <a:ext cx="471443" cy="22860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737366" y="6321623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 smtClean="0"/>
              <a:t>알람</a:t>
            </a:r>
            <a:r>
              <a:rPr lang="ko-KR" altLang="en-US" sz="1400" dirty="0" smtClean="0"/>
              <a:t> 종류</a:t>
            </a:r>
            <a:endParaRPr lang="ko-KR" altLang="en-US" sz="1400" dirty="0"/>
          </a:p>
        </p:txBody>
      </p:sp>
      <p:cxnSp>
        <p:nvCxnSpPr>
          <p:cNvPr id="35" name="직선 화살표 연결선 34"/>
          <p:cNvCxnSpPr>
            <a:stCxn id="34" idx="0"/>
          </p:cNvCxnSpPr>
          <p:nvPr/>
        </p:nvCxnSpPr>
        <p:spPr>
          <a:xfrm flipV="1">
            <a:off x="4208810" y="6093023"/>
            <a:ext cx="210790" cy="22860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533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2400" y="1066800"/>
            <a:ext cx="9019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*System Setting &gt; Basic Settings &gt; Network </a:t>
            </a:r>
            <a:r>
              <a:rPr lang="en-US" altLang="ko-KR" dirty="0" err="1" smtClean="0"/>
              <a:t>Config</a:t>
            </a:r>
            <a:r>
              <a:rPr lang="en-US" altLang="ko-KR" dirty="0" smtClean="0"/>
              <a:t> &gt; Network </a:t>
            </a:r>
            <a:r>
              <a:rPr lang="en-US" altLang="ko-KR" dirty="0" err="1" smtClean="0"/>
              <a:t>Config</a:t>
            </a:r>
            <a:r>
              <a:rPr lang="en-US" altLang="ko-KR" dirty="0" smtClean="0"/>
              <a:t> &gt; Local Area Connection 2</a:t>
            </a:r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662" y="0"/>
            <a:ext cx="9143337" cy="36241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11972">
              <a:spcBef>
                <a:spcPts val="94"/>
              </a:spcBef>
            </a:pP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Gothic A1"/>
              </a:rPr>
              <a:t>Ⅳ</a:t>
            </a: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. </a:t>
            </a:r>
            <a:r>
              <a:rPr lang="ko-KR" altLang="en-US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별첨</a:t>
            </a:r>
            <a:endParaRPr lang="ko-KR" altLang="en-US" sz="2309" spc="-255" baseline="1543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뫼비우스 Bold" panose="02000500000000000000" pitchFamily="2" charset="-127"/>
              <a:ea typeface="뫼비우스 Bold" panose="02000500000000000000" pitchFamily="2" charset="-127"/>
              <a:cs typeface="Gothic A1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2895600" y="401959"/>
            <a:ext cx="3505200" cy="360041"/>
          </a:xfrm>
          <a:prstGeom prst="rect">
            <a:avLst/>
          </a:prstGeom>
          <a:solidFill>
            <a:srgbClr val="31859C"/>
          </a:solidFill>
          <a:ln w="95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400" b="1" kern="0" dirty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1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.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축전지 시스템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IP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주소 변경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95" y="2067535"/>
            <a:ext cx="4996603" cy="4157237"/>
          </a:xfrm>
          <a:prstGeom prst="rect">
            <a:avLst/>
          </a:prstGeom>
        </p:spPr>
      </p:pic>
      <p:sp>
        <p:nvSpPr>
          <p:cNvPr id="15" name="모서리가 둥근 직사각형 14"/>
          <p:cNvSpPr/>
          <p:nvPr/>
        </p:nvSpPr>
        <p:spPr>
          <a:xfrm>
            <a:off x="190500" y="1622690"/>
            <a:ext cx="8801100" cy="37709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928942"/>
              </p:ext>
            </p:extLst>
          </p:nvPr>
        </p:nvGraphicFramePr>
        <p:xfrm>
          <a:off x="5334000" y="2113963"/>
          <a:ext cx="3581400" cy="4064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415515802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158337179"/>
                    </a:ext>
                  </a:extLst>
                </a:gridCol>
              </a:tblGrid>
              <a:tr h="4466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항목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설정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563843"/>
                  </a:ext>
                </a:extLst>
              </a:tr>
              <a:tr h="1071926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 smtClean="0"/>
                        <a:t>Local</a:t>
                      </a:r>
                      <a:r>
                        <a:rPr lang="en-US" altLang="ko-KR" sz="1400" baseline="0" dirty="0" smtClean="0"/>
                        <a:t> Area Connection: WEB </a:t>
                      </a:r>
                      <a:r>
                        <a:rPr lang="ko-KR" altLang="en-US" sz="1400" baseline="0" dirty="0" smtClean="0"/>
                        <a:t>접속</a:t>
                      </a:r>
                      <a:r>
                        <a:rPr lang="en-US" altLang="ko-KR" sz="1400" baseline="0" dirty="0" smtClean="0"/>
                        <a:t>, </a:t>
                      </a:r>
                      <a:r>
                        <a:rPr lang="en-US" altLang="ko-KR" sz="1400" b="1" i="1" baseline="0" dirty="0" smtClean="0">
                          <a:solidFill>
                            <a:srgbClr val="FF0000"/>
                          </a:solidFill>
                        </a:rPr>
                        <a:t>SNMP</a:t>
                      </a:r>
                      <a:endParaRPr lang="ko-KR" altLang="en-US" sz="1400" b="1" i="1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l" latinLnBrk="1"/>
                      <a:endParaRPr lang="en-US" altLang="ko-KR" sz="1400" baseline="0" dirty="0" smtClean="0"/>
                    </a:p>
                    <a:p>
                      <a:pPr algn="l" latinLnBrk="1"/>
                      <a:r>
                        <a:rPr lang="en-US" altLang="ko-KR" sz="1400" baseline="0" dirty="0" smtClean="0"/>
                        <a:t>Local Connection 2: </a:t>
                      </a:r>
                      <a:r>
                        <a:rPr lang="en-US" altLang="ko-KR" sz="1400" b="1" i="1" baseline="0" dirty="0" smtClean="0">
                          <a:solidFill>
                            <a:srgbClr val="FF0000"/>
                          </a:solidFill>
                        </a:rPr>
                        <a:t>WEB </a:t>
                      </a:r>
                      <a:r>
                        <a:rPr lang="ko-KR" altLang="en-US" sz="1400" b="1" i="1" baseline="0" dirty="0" smtClean="0">
                          <a:solidFill>
                            <a:srgbClr val="FF0000"/>
                          </a:solidFill>
                        </a:rPr>
                        <a:t>접속</a:t>
                      </a:r>
                      <a:endParaRPr lang="ko-KR" altLang="en-US" sz="1400" b="1" i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918968"/>
                  </a:ext>
                </a:extLst>
              </a:tr>
              <a:tr h="75928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DHCP Enabled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DHCP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ko-KR" altLang="en-US" sz="1400" baseline="0" dirty="0" smtClean="0"/>
                        <a:t>환경</a:t>
                      </a:r>
                      <a:r>
                        <a:rPr lang="en-US" altLang="ko-KR" sz="1400" baseline="0" dirty="0" smtClean="0"/>
                        <a:t>: Enable</a:t>
                      </a:r>
                    </a:p>
                    <a:p>
                      <a:pPr latinLnBrk="1"/>
                      <a:r>
                        <a:rPr lang="en-US" altLang="ko-KR" sz="1400" baseline="0" dirty="0" smtClean="0"/>
                        <a:t>Static </a:t>
                      </a:r>
                      <a:r>
                        <a:rPr lang="ko-KR" altLang="en-US" sz="1400" baseline="0" dirty="0" smtClean="0"/>
                        <a:t>환경</a:t>
                      </a:r>
                      <a:r>
                        <a:rPr lang="en-US" altLang="ko-KR" sz="1400" baseline="0" dirty="0" smtClean="0"/>
                        <a:t>: Disable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6776395"/>
                  </a:ext>
                </a:extLst>
              </a:tr>
              <a:tr h="4466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IP</a:t>
                      </a:r>
                      <a:r>
                        <a:rPr lang="en-US" altLang="ko-KR" sz="1400" baseline="0" dirty="0" smtClean="0"/>
                        <a:t> Type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IPv4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65768"/>
                  </a:ext>
                </a:extLst>
              </a:tr>
              <a:tr h="4466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IP</a:t>
                      </a:r>
                      <a:r>
                        <a:rPr lang="en-US" altLang="ko-KR" sz="1400" baseline="0" dirty="0" smtClean="0"/>
                        <a:t> Address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60.x.x.x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0978265"/>
                  </a:ext>
                </a:extLst>
              </a:tr>
              <a:tr h="4466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Subnet</a:t>
                      </a:r>
                      <a:r>
                        <a:rPr lang="en-US" altLang="ko-KR" sz="1400" baseline="0" dirty="0" smtClean="0"/>
                        <a:t> Mask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Y.Y.Y.Y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939988"/>
                  </a:ext>
                </a:extLst>
              </a:tr>
              <a:tr h="4466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 smtClean="0"/>
                        <a:t>Default Gateway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Z.Z.Z.Z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34672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17595" y="1618117"/>
            <a:ext cx="8774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“Enable Local Connection 2 “No” -&gt; “Yes”</a:t>
            </a:r>
            <a:r>
              <a:rPr lang="ko-KR" altLang="en-US" sz="1400" dirty="0" smtClean="0"/>
              <a:t>로 변경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변경할 </a:t>
            </a:r>
            <a:r>
              <a:rPr lang="en-US" altLang="ko-KR" sz="1400" dirty="0" smtClean="0"/>
              <a:t>IP</a:t>
            </a:r>
            <a:r>
              <a:rPr lang="ko-KR" altLang="en-US" sz="1400" dirty="0" smtClean="0"/>
              <a:t>로 설정 후</a:t>
            </a:r>
            <a:r>
              <a:rPr lang="en-US" altLang="ko-KR" sz="1400" dirty="0" smtClean="0"/>
              <a:t>, “Submit” </a:t>
            </a:r>
            <a:r>
              <a:rPr lang="ko-KR" altLang="en-US" sz="1400" dirty="0" smtClean="0"/>
              <a:t>버튼을 클릭하면 실시간으로 적용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1600201" y="2786323"/>
            <a:ext cx="3352800" cy="11939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590800" y="4137282"/>
            <a:ext cx="2209799" cy="1478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390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903223"/>
              </p:ext>
            </p:extLst>
          </p:nvPr>
        </p:nvGraphicFramePr>
        <p:xfrm>
          <a:off x="157163" y="1142996"/>
          <a:ext cx="8836819" cy="366613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6237">
                  <a:extLst>
                    <a:ext uri="{9D8B030D-6E8A-4147-A177-3AD203B41FA5}">
                      <a16:colId xmlns:a16="http://schemas.microsoft.com/office/drawing/2014/main" val="327057347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54423289"/>
                    </a:ext>
                  </a:extLst>
                </a:gridCol>
                <a:gridCol w="6022182">
                  <a:extLst>
                    <a:ext uri="{9D8B030D-6E8A-4147-A177-3AD203B41FA5}">
                      <a16:colId xmlns:a16="http://schemas.microsoft.com/office/drawing/2014/main" val="4016335446"/>
                    </a:ext>
                  </a:extLst>
                </a:gridCol>
              </a:tblGrid>
              <a:tr h="3048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No.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목록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설명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018980"/>
                  </a:ext>
                </a:extLst>
              </a:tr>
              <a:tr h="36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All Li Batt Communication Failure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baseline="0" dirty="0" smtClean="0">
                          <a:effectLst/>
                          <a:ea typeface="뫼비우스 Bold" panose="02000500000000000000"/>
                        </a:rPr>
                        <a:t> </a:t>
                      </a:r>
                      <a:r>
                        <a:rPr lang="en-US" altLang="ko-KR" sz="1200" u="none" strike="noStrike" dirty="0" smtClean="0">
                          <a:effectLst/>
                          <a:ea typeface="뫼비우스 Bold" panose="02000500000000000000"/>
                        </a:rPr>
                        <a:t>SMU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가 모든 장치와의 통신에 실패했을 때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176817"/>
                  </a:ext>
                </a:extLst>
              </a:tr>
              <a:tr h="36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Battery Charge Overcurrent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 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BMU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의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충전 전류가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상한값을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초과하면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200705"/>
                  </a:ext>
                </a:extLst>
              </a:tr>
              <a:tr h="36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High Battery Temperature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 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온도가 고온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임계값을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초과하면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968134"/>
                  </a:ext>
                </a:extLst>
              </a:tr>
              <a:tr h="36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Low Battery Temperature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 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온도가 저온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임계값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미만일 경우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425185"/>
                  </a:ext>
                </a:extLst>
              </a:tr>
              <a:tr h="36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뫼비우스 Bold" panose="02000500000000000000"/>
                        </a:rPr>
                        <a:t>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Battery Fuse Broken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 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퓨즈가 단선되었거나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차단기가 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OFF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상태일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경우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747101"/>
                  </a:ext>
                </a:extLst>
              </a:tr>
              <a:tr h="36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뫼비우스 Bold" panose="02000500000000000000"/>
                        </a:rPr>
                        <a:t>6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Battery Discharging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 축전지가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방전되면 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SMU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는 이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알람을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129815"/>
                  </a:ext>
                </a:extLst>
              </a:tr>
              <a:tr h="4511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뫼비우스 Bold" panose="02000500000000000000"/>
                        </a:rPr>
                        <a:t>7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BMU Missing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u="none" strike="noStrike" dirty="0" smtClean="0">
                          <a:effectLst/>
                          <a:ea typeface="뫼비우스 Bold" panose="02000500000000000000"/>
                        </a:rPr>
                        <a:t> SMU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가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재시작된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이후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,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재시작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전 감지된 최대 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BMU</a:t>
                      </a:r>
                      <a:r>
                        <a:rPr lang="en-US" altLang="ko-KR" sz="1200" u="none" strike="noStrike" dirty="0" smtClean="0">
                          <a:effectLst/>
                          <a:ea typeface="뫼비우스 Bold" panose="02000500000000000000"/>
                        </a:rPr>
                        <a:t>(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모듈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)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수보다 적은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수의 </a:t>
                      </a:r>
                      <a:r>
                        <a:rPr lang="en-US" altLang="ko-KR" sz="1200" u="none" strike="noStrike" dirty="0" smtClean="0">
                          <a:effectLst/>
                          <a:ea typeface="뫼비우스 Bold" panose="02000500000000000000"/>
                        </a:rPr>
                        <a:t>BMU(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모듈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)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가 감지되면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575903"/>
                  </a:ext>
                </a:extLst>
              </a:tr>
              <a:tr h="36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뫼비우스 Bold" panose="02000500000000000000"/>
                        </a:rPr>
                        <a:t>8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Over Load Alarm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 최대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출력 전력이 설정된 부하를 구동하기에 부족할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경우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501510"/>
                  </a:ext>
                </a:extLst>
              </a:tr>
              <a:tr h="363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뫼비우스 Bold" panose="02000500000000000000"/>
                        </a:rPr>
                        <a:t>9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Low Battery Capacity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 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용량이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임계값보다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낮을 경우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2747" marR="2747" marT="274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84885"/>
                  </a:ext>
                </a:extLst>
              </a:tr>
            </a:tbl>
          </a:graphicData>
        </a:graphic>
      </p:graphicFrame>
      <p:sp>
        <p:nvSpPr>
          <p:cNvPr id="4" name="모서리가 둥근 직사각형 3"/>
          <p:cNvSpPr/>
          <p:nvPr/>
        </p:nvSpPr>
        <p:spPr>
          <a:xfrm>
            <a:off x="662" y="0"/>
            <a:ext cx="9143337" cy="36241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11972">
              <a:spcBef>
                <a:spcPts val="94"/>
              </a:spcBef>
            </a:pP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Gothic A1"/>
              </a:rPr>
              <a:t>Ⅳ</a:t>
            </a: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. </a:t>
            </a:r>
            <a:r>
              <a:rPr lang="ko-KR" altLang="en-US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별첨</a:t>
            </a:r>
            <a:endParaRPr lang="ko-KR" altLang="en-US" sz="2309" spc="-255" baseline="1543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뫼비우스 Bold" panose="02000500000000000000" pitchFamily="2" charset="-127"/>
              <a:ea typeface="뫼비우스 Bold" panose="02000500000000000000" pitchFamily="2" charset="-127"/>
              <a:cs typeface="Gothic A1"/>
            </a:endParaRPr>
          </a:p>
        </p:txBody>
      </p:sp>
      <p:sp>
        <p:nvSpPr>
          <p:cNvPr id="5" name="직사각형 4"/>
          <p:cNvSpPr/>
          <p:nvPr/>
        </p:nvSpPr>
        <p:spPr bwMode="auto">
          <a:xfrm>
            <a:off x="2895600" y="401959"/>
            <a:ext cx="3810000" cy="360041"/>
          </a:xfrm>
          <a:prstGeom prst="rect">
            <a:avLst/>
          </a:prstGeom>
          <a:solidFill>
            <a:srgbClr val="31859C"/>
          </a:solidFill>
          <a:ln w="95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2-1. </a:t>
            </a:r>
            <a:r>
              <a:rPr lang="ko-KR" altLang="en-US" sz="1400" b="1" kern="0" dirty="0" err="1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알람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리스트 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–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축전지 시스템 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(GROUP)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376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775090"/>
              </p:ext>
            </p:extLst>
          </p:nvPr>
        </p:nvGraphicFramePr>
        <p:xfrm>
          <a:off x="250030" y="914400"/>
          <a:ext cx="8665370" cy="5715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9570">
                  <a:extLst>
                    <a:ext uri="{9D8B030D-6E8A-4147-A177-3AD203B41FA5}">
                      <a16:colId xmlns:a16="http://schemas.microsoft.com/office/drawing/2014/main" val="278119577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831003476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695410554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No.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목록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설명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51686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Lithium battery communication failure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이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알람은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SMU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가 장비와 통신하지 못할 때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76168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Board hardware fault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이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알람은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SMU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가 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BMU</a:t>
                      </a:r>
                      <a:r>
                        <a:rPr lang="en-US" altLang="ko-KR" sz="1200" u="none" strike="noStrike" dirty="0" smtClean="0">
                          <a:effectLst/>
                          <a:ea typeface="뫼비우스 Bold" panose="02000500000000000000"/>
                        </a:rPr>
                        <a:t>(</a:t>
                      </a:r>
                      <a:r>
                        <a:rPr lang="ko-KR" altLang="en-US" sz="1200" u="none" strike="noStrike" dirty="0" err="1" smtClean="0">
                          <a:effectLst/>
                          <a:ea typeface="뫼비우스 Bold" panose="02000500000000000000"/>
                        </a:rPr>
                        <a:t>축전지모듈</a:t>
                      </a:r>
                      <a:r>
                        <a:rPr lang="en-US" altLang="ko-KR" sz="1200" u="none" strike="noStrike" dirty="0" smtClean="0">
                          <a:effectLst/>
                          <a:ea typeface="뫼비우스 Bold" panose="02000500000000000000"/>
                        </a:rPr>
                        <a:t>)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로부터 고장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알람을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수신했을 때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334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ea typeface="뫼비우스 Bold" panose="02000500000000000000"/>
                        </a:rPr>
                        <a:t>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Low temperature protection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BMU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의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중 하나라도 저온 상태이고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,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충방전이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차단된 경우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83715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ea typeface="뫼비우스 Bold" panose="02000500000000000000"/>
                        </a:rPr>
                        <a:t>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Low temperature discharge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방전 중 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BMU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의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중 하나라도 저온 상태일 경우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46965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ea typeface="뫼비우스 Bold" panose="02000500000000000000"/>
                        </a:rPr>
                        <a:t>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High temperature protection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BMU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의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중 하나라도 고온 상태이고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,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충방전이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차단된 경우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07471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ea typeface="뫼비우스 Bold" panose="02000500000000000000"/>
                        </a:rPr>
                        <a:t>6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Charging high temperature protection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BMU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의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충전 중 하나라도 고온 상태이고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,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충방전이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차단된 경우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58949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ea typeface="뫼비우스 Bold" panose="02000500000000000000"/>
                        </a:rPr>
                        <a:t>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Overcharge Protection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충전 중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팩 전압이 과전압 보호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임계값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초과 했을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때 발생 </a:t>
                      </a:r>
                      <a:r>
                        <a:rPr lang="ko-KR" altLang="en-US" sz="1200" u="none" strike="noStrike" dirty="0" err="1" smtClean="0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29567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ea typeface="뫼비우스 Bold" panose="02000500000000000000"/>
                        </a:rPr>
                        <a:t>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ea typeface="뫼비우스 Bold" panose="02000500000000000000"/>
                        </a:rPr>
                        <a:t>Overdischarge</a:t>
                      </a:r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 Protection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방전 중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팩 전압이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저전압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보호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임계값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이하로 떨어졌을 때 </a:t>
                      </a:r>
                      <a:r>
                        <a:rPr lang="ko-KR" altLang="en-US" sz="1200" u="none" strike="noStrike" dirty="0" err="1" smtClean="0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50363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ea typeface="뫼비우스 Bold" panose="02000500000000000000"/>
                        </a:rPr>
                        <a:t>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Charging Overcurrent Protection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충전 전류가 충전 과전류 보호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임계값을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초과하면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extLst>
                  <a:ext uri="{0D108BD9-81ED-4DB2-BD59-A6C34878D82A}">
                    <a16:rowId xmlns:a16="http://schemas.microsoft.com/office/drawing/2014/main" val="177035568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ea typeface="뫼비우스 Bold" panose="02000500000000000000"/>
                        </a:rPr>
                        <a:t>10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Discharge Overcurrent Protection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방전 전류가 방전 과전류 보호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임계값을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초과하면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extLst>
                  <a:ext uri="{0D108BD9-81ED-4DB2-BD59-A6C34878D82A}">
                    <a16:rowId xmlns:a16="http://schemas.microsoft.com/office/drawing/2014/main" val="318947309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ea typeface="뫼비우스 Bold" panose="02000500000000000000"/>
                        </a:rPr>
                        <a:t>11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Cell </a:t>
                      </a:r>
                      <a:r>
                        <a:rPr lang="en-US" sz="1200" u="none" strike="noStrike" dirty="0" smtClean="0">
                          <a:effectLst/>
                          <a:ea typeface="뫼비우스 Bold" panose="02000500000000000000"/>
                        </a:rPr>
                        <a:t>1~15 </a:t>
                      </a:r>
                      <a:r>
                        <a:rPr lang="en-US" sz="1200" u="none" strike="noStrike" dirty="0">
                          <a:effectLst/>
                          <a:ea typeface="뫼비우스 Bold" panose="02000500000000000000"/>
                        </a:rPr>
                        <a:t>Fault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셀에서 고장이 감지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(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셀전압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or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셀온도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이상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)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되면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, SMU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는 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BMU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로부터 고장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extLst>
                  <a:ext uri="{0D108BD9-81ED-4DB2-BD59-A6C34878D82A}">
                    <a16:rowId xmlns:a16="http://schemas.microsoft.com/office/drawing/2014/main" val="126313946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effectLst/>
                          <a:ea typeface="뫼비우스 Bold" panose="02000500000000000000"/>
                        </a:rPr>
                        <a:t>12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ea typeface="뫼비우스 Bold" panose="02000500000000000000"/>
                        </a:rPr>
                        <a:t>Upgrade failure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업그레이드 실패로 인해 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BMU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는 이전 소프트웨어 버전을 계속 실행한다는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extLst>
                  <a:ext uri="{0D108BD9-81ED-4DB2-BD59-A6C34878D82A}">
                    <a16:rowId xmlns:a16="http://schemas.microsoft.com/office/drawing/2014/main" val="12338888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뫼비우스 Bold" panose="02000500000000000000"/>
                        </a:rPr>
                        <a:t>13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ea typeface="뫼비우스 Bold" panose="02000500000000000000"/>
                        </a:rPr>
                        <a:t>Discharge low temperature protection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방전 중 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BMU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의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중 하나라도 저온 상태일 경우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extLst>
                  <a:ext uri="{0D108BD9-81ED-4DB2-BD59-A6C34878D82A}">
                    <a16:rowId xmlns:a16="http://schemas.microsoft.com/office/drawing/2014/main" val="7026928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뫼비우스 Bold" panose="02000500000000000000"/>
                        </a:rPr>
                        <a:t>14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ea typeface="뫼비우스 Bold" panose="02000500000000000000"/>
                        </a:rPr>
                        <a:t>Charging low temperature protection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충전 중 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BMU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의 </a:t>
                      </a:r>
                      <a:r>
                        <a:rPr lang="ko-KR" altLang="en-US" sz="1200" u="none" strike="noStrike" dirty="0" smtClean="0">
                          <a:effectLst/>
                          <a:ea typeface="뫼비우스 Bold" panose="02000500000000000000"/>
                        </a:rPr>
                        <a:t>축전지 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중 하나라도 저온 상태일 경우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extLst>
                  <a:ext uri="{0D108BD9-81ED-4DB2-BD59-A6C34878D82A}">
                    <a16:rowId xmlns:a16="http://schemas.microsoft.com/office/drawing/2014/main" val="268900125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뫼비우스 Bold" panose="02000500000000000000"/>
                        </a:rPr>
                        <a:t>15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ea typeface="뫼비우스 Bold" panose="02000500000000000000"/>
                        </a:rPr>
                        <a:t>Input reverse connection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전원 단자 또는 활성화 단자가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역접속되면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SMU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가 이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extLst>
                  <a:ext uri="{0D108BD9-81ED-4DB2-BD59-A6C34878D82A}">
                    <a16:rowId xmlns:a16="http://schemas.microsoft.com/office/drawing/2014/main" val="264681532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뫼비우스 Bold" panose="02000500000000000000"/>
                        </a:rPr>
                        <a:t>16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ea typeface="뫼비우스 Bold" panose="02000500000000000000"/>
                        </a:rPr>
                        <a:t>Abnormal shutdown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이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알람은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SMU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가 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BMU</a:t>
                      </a:r>
                      <a:r>
                        <a:rPr lang="en-US" altLang="ko-KR" sz="1200" u="none" strike="noStrike" dirty="0" smtClean="0">
                          <a:effectLst/>
                          <a:ea typeface="뫼비우스 Bold" panose="02000500000000000000"/>
                        </a:rPr>
                        <a:t>(</a:t>
                      </a:r>
                      <a:r>
                        <a:rPr lang="ko-KR" altLang="en-US" sz="1200" u="none" strike="noStrike" dirty="0" err="1" smtClean="0">
                          <a:effectLst/>
                          <a:ea typeface="뫼비우스 Bold" panose="02000500000000000000"/>
                        </a:rPr>
                        <a:t>축전지모듈</a:t>
                      </a:r>
                      <a:r>
                        <a:rPr lang="en-US" altLang="ko-KR" sz="1200" u="none" strike="noStrike" dirty="0" smtClean="0">
                          <a:effectLst/>
                          <a:ea typeface="뫼비우스 Bold" panose="02000500000000000000"/>
                        </a:rPr>
                        <a:t>)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로부터 비정상적으로 종료했을 때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extLst>
                  <a:ext uri="{0D108BD9-81ED-4DB2-BD59-A6C34878D82A}">
                    <a16:rowId xmlns:a16="http://schemas.microsoft.com/office/drawing/2014/main" val="414265628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뫼비우스 Bold" panose="02000500000000000000"/>
                        </a:rPr>
                        <a:t>17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ea typeface="뫼비우스 Bold" panose="02000500000000000000"/>
                        </a:rPr>
                        <a:t>Lithium Battery Protection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정상 작동 중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, manual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로 강제 종료 시 나오는 일반 </a:t>
                      </a:r>
                      <a:r>
                        <a:rPr lang="ko-KR" altLang="en-US" sz="1200" u="none" strike="noStrike" dirty="0" err="1">
                          <a:effectLst/>
                          <a:ea typeface="뫼비우스 Bold" panose="02000500000000000000"/>
                        </a:rPr>
                        <a:t>알람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(Abnormal shutdown</a:t>
                      </a:r>
                      <a:r>
                        <a:rPr lang="ko-KR" altLang="en-US" sz="1200" u="none" strike="noStrike" dirty="0">
                          <a:effectLst/>
                          <a:ea typeface="뫼비우스 Bold" panose="02000500000000000000"/>
                        </a:rPr>
                        <a:t>과 같이 발생</a:t>
                      </a:r>
                      <a:r>
                        <a:rPr lang="en-US" altLang="ko-KR" sz="1200" u="none" strike="noStrike" dirty="0">
                          <a:effectLst/>
                          <a:ea typeface="뫼비우스 Bold" panose="02000500000000000000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뫼비우스 Bold" panose="02000500000000000000"/>
                      </a:endParaRPr>
                    </a:p>
                  </a:txBody>
                  <a:tcPr marL="3532" marR="3532" marT="3532" marB="0" anchor="ctr"/>
                </a:tc>
                <a:extLst>
                  <a:ext uri="{0D108BD9-81ED-4DB2-BD59-A6C34878D82A}">
                    <a16:rowId xmlns:a16="http://schemas.microsoft.com/office/drawing/2014/main" val="1939916888"/>
                  </a:ext>
                </a:extLst>
              </a:tr>
            </a:tbl>
          </a:graphicData>
        </a:graphic>
      </p:graphicFrame>
      <p:sp>
        <p:nvSpPr>
          <p:cNvPr id="3" name="모서리가 둥근 직사각형 2"/>
          <p:cNvSpPr/>
          <p:nvPr/>
        </p:nvSpPr>
        <p:spPr>
          <a:xfrm>
            <a:off x="662" y="0"/>
            <a:ext cx="9143337" cy="36241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11972">
              <a:spcBef>
                <a:spcPts val="94"/>
              </a:spcBef>
            </a:pP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Gothic A1"/>
              </a:rPr>
              <a:t>Ⅳ</a:t>
            </a: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. </a:t>
            </a:r>
            <a:r>
              <a:rPr lang="ko-KR" altLang="en-US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별첨</a:t>
            </a:r>
            <a:endParaRPr lang="ko-KR" altLang="en-US" sz="2309" spc="-255" baseline="1543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뫼비우스 Bold" panose="02000500000000000000" pitchFamily="2" charset="-127"/>
              <a:ea typeface="뫼비우스 Bold" panose="02000500000000000000" pitchFamily="2" charset="-127"/>
              <a:cs typeface="Gothic A1"/>
            </a:endParaRPr>
          </a:p>
        </p:txBody>
      </p:sp>
      <p:sp>
        <p:nvSpPr>
          <p:cNvPr id="4" name="직사각형 3"/>
          <p:cNvSpPr/>
          <p:nvPr/>
        </p:nvSpPr>
        <p:spPr bwMode="auto">
          <a:xfrm>
            <a:off x="2895600" y="401959"/>
            <a:ext cx="3505200" cy="360041"/>
          </a:xfrm>
          <a:prstGeom prst="rect">
            <a:avLst/>
          </a:prstGeom>
          <a:solidFill>
            <a:srgbClr val="31859C"/>
          </a:solidFill>
          <a:ln w="95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2-2. </a:t>
            </a:r>
            <a:r>
              <a:rPr lang="ko-KR" altLang="en-US" sz="1400" b="1" kern="0" dirty="0" err="1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알람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리스트 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–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축전지 모듈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182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>
          <a:xfrm>
            <a:off x="457200" y="3886200"/>
            <a:ext cx="7924800" cy="42743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457200" y="937613"/>
            <a:ext cx="7924800" cy="42743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662" y="0"/>
            <a:ext cx="9143337" cy="36241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11972">
              <a:spcBef>
                <a:spcPts val="94"/>
              </a:spcBef>
            </a:pP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Gothic A1"/>
              </a:rPr>
              <a:t>Ⅳ</a:t>
            </a: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. </a:t>
            </a:r>
            <a:r>
              <a:rPr lang="ko-KR" altLang="en-US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별첨</a:t>
            </a:r>
            <a:endParaRPr lang="ko-KR" altLang="en-US" sz="2309" spc="-255" baseline="1543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뫼비우스 Bold" panose="02000500000000000000" pitchFamily="2" charset="-127"/>
              <a:ea typeface="뫼비우스 Bold" panose="02000500000000000000" pitchFamily="2" charset="-127"/>
              <a:cs typeface="Gothic A1"/>
            </a:endParaRPr>
          </a:p>
        </p:txBody>
      </p:sp>
      <p:sp>
        <p:nvSpPr>
          <p:cNvPr id="4" name="직사각형 3"/>
          <p:cNvSpPr/>
          <p:nvPr/>
        </p:nvSpPr>
        <p:spPr bwMode="auto">
          <a:xfrm>
            <a:off x="2895600" y="401959"/>
            <a:ext cx="3505200" cy="360041"/>
          </a:xfrm>
          <a:prstGeom prst="rect">
            <a:avLst/>
          </a:prstGeom>
          <a:solidFill>
            <a:srgbClr val="31859C"/>
          </a:solidFill>
          <a:ln w="95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3-1.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웹 자동로그아웃 방지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2051" name="Picture 3" descr="image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62" y="4433493"/>
            <a:ext cx="4239677" cy="2058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525" y="1386878"/>
            <a:ext cx="4495800" cy="23299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990600"/>
            <a:ext cx="4017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1. </a:t>
            </a:r>
            <a:r>
              <a:rPr lang="ko-KR" altLang="en-US" sz="1400" dirty="0" smtClean="0"/>
              <a:t>브라우저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크롬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에서 </a:t>
            </a:r>
            <a:r>
              <a:rPr lang="en-US" altLang="ko-KR" sz="1400" dirty="0" smtClean="0"/>
              <a:t>“</a:t>
            </a:r>
            <a:r>
              <a:rPr lang="ko-KR" altLang="en-US" sz="1400" dirty="0" smtClean="0"/>
              <a:t>크롬 확장프로그램</a:t>
            </a:r>
            <a:r>
              <a:rPr lang="en-US" altLang="ko-KR" sz="1400" dirty="0" smtClean="0"/>
              <a:t>“ </a:t>
            </a:r>
            <a:r>
              <a:rPr lang="ko-KR" altLang="en-US" sz="1400" dirty="0" smtClean="0"/>
              <a:t>검색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" y="3962400"/>
            <a:ext cx="60069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2. </a:t>
            </a:r>
            <a:r>
              <a:rPr lang="ko-KR" altLang="en-US" sz="1400" dirty="0" smtClean="0"/>
              <a:t>크롬 확장프로그램에서 </a:t>
            </a:r>
            <a:r>
              <a:rPr lang="en-US" altLang="ko-KR" sz="1400" dirty="0" smtClean="0"/>
              <a:t>“refresh” </a:t>
            </a:r>
            <a:r>
              <a:rPr lang="ko-KR" altLang="en-US" sz="1400" dirty="0" smtClean="0"/>
              <a:t>검색 후</a:t>
            </a:r>
            <a:r>
              <a:rPr lang="en-US" altLang="ko-KR" sz="1400" dirty="0" smtClean="0"/>
              <a:t>, “Auto Refresh Plus” </a:t>
            </a:r>
            <a:r>
              <a:rPr lang="ko-KR" altLang="en-US" sz="1400" dirty="0" smtClean="0"/>
              <a:t>선택 및 설치</a:t>
            </a:r>
            <a:endParaRPr lang="ko-KR" altLang="en-US" sz="1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462" y="4433492"/>
            <a:ext cx="3826338" cy="215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987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/>
          <p:cNvSpPr/>
          <p:nvPr/>
        </p:nvSpPr>
        <p:spPr>
          <a:xfrm>
            <a:off x="727896" y="959442"/>
            <a:ext cx="7840608" cy="85487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모서리가 둥근 직사각형 2"/>
          <p:cNvSpPr/>
          <p:nvPr/>
        </p:nvSpPr>
        <p:spPr>
          <a:xfrm>
            <a:off x="662" y="0"/>
            <a:ext cx="9143337" cy="36241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11972">
              <a:spcBef>
                <a:spcPts val="94"/>
              </a:spcBef>
            </a:pP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Gothic A1"/>
              </a:rPr>
              <a:t>Ⅳ</a:t>
            </a:r>
            <a:r>
              <a:rPr lang="en-US" altLang="ko-KR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. </a:t>
            </a:r>
            <a:r>
              <a:rPr lang="ko-KR" altLang="en-US" sz="2309" spc="-255" baseline="1543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뫼비우스 Bold" panose="02000500000000000000"/>
                <a:cs typeface="Gothic A1"/>
              </a:rPr>
              <a:t>별첨</a:t>
            </a:r>
            <a:endParaRPr lang="ko-KR" altLang="en-US" sz="2309" spc="-255" baseline="1543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뫼비우스 Bold" panose="02000500000000000000" pitchFamily="2" charset="-127"/>
              <a:ea typeface="뫼비우스 Bold" panose="02000500000000000000" pitchFamily="2" charset="-127"/>
              <a:cs typeface="Gothic A1"/>
            </a:endParaRPr>
          </a:p>
        </p:txBody>
      </p:sp>
      <p:sp>
        <p:nvSpPr>
          <p:cNvPr id="4" name="직사각형 3"/>
          <p:cNvSpPr/>
          <p:nvPr/>
        </p:nvSpPr>
        <p:spPr bwMode="auto">
          <a:xfrm>
            <a:off x="2895600" y="401959"/>
            <a:ext cx="3505200" cy="360041"/>
          </a:xfrm>
          <a:prstGeom prst="rect">
            <a:avLst/>
          </a:prstGeom>
          <a:solidFill>
            <a:srgbClr val="31859C"/>
          </a:solidFill>
          <a:ln w="9525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/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3-2. 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웹 자동로그아웃 방지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079101"/>
            <a:ext cx="7439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1. </a:t>
            </a:r>
            <a:r>
              <a:rPr lang="ko-KR" altLang="en-US" sz="1400" dirty="0"/>
              <a:t>브라우저</a:t>
            </a:r>
            <a:r>
              <a:rPr lang="en-US" altLang="ko-KR" sz="1400" dirty="0"/>
              <a:t>(</a:t>
            </a:r>
            <a:r>
              <a:rPr lang="ko-KR" altLang="en-US" sz="1400" dirty="0"/>
              <a:t>크롬</a:t>
            </a:r>
            <a:r>
              <a:rPr lang="en-US" altLang="ko-KR" sz="1400" dirty="0"/>
              <a:t>)</a:t>
            </a:r>
            <a:r>
              <a:rPr lang="ko-KR" altLang="en-US" sz="1400" dirty="0"/>
              <a:t>에서 </a:t>
            </a:r>
            <a:r>
              <a:rPr lang="en-US" altLang="ko-KR" sz="1400" dirty="0" smtClean="0"/>
              <a:t>“Auto Refresh Plus </a:t>
            </a:r>
            <a:r>
              <a:rPr lang="ko-KR" altLang="en-US" sz="1400" dirty="0"/>
              <a:t>크롬 확장프로그램 아이콘을 </a:t>
            </a:r>
            <a:r>
              <a:rPr lang="ko-KR" altLang="en-US" sz="1400" dirty="0" smtClean="0"/>
              <a:t>선택</a:t>
            </a:r>
            <a:r>
              <a:rPr lang="en-US" altLang="ko-KR" sz="1400" dirty="0" smtClean="0"/>
              <a:t>”</a:t>
            </a:r>
            <a:r>
              <a:rPr lang="ko-KR" altLang="en-US" sz="1400" dirty="0" smtClean="0"/>
              <a:t> </a:t>
            </a:r>
            <a:r>
              <a:rPr lang="ko-KR" altLang="en-US" sz="1400" dirty="0"/>
              <a:t>→ 설정 팝업 </a:t>
            </a:r>
            <a:r>
              <a:rPr lang="ko-KR" altLang="en-US" sz="1400" dirty="0" smtClean="0"/>
              <a:t>띄움</a:t>
            </a:r>
            <a:endParaRPr lang="en-US" altLang="ko-KR" sz="1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685800" y="1361478"/>
            <a:ext cx="7840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2. </a:t>
            </a:r>
            <a:r>
              <a:rPr lang="ko-KR" altLang="en-US" sz="1400" dirty="0" smtClean="0"/>
              <a:t>시간 간격을 </a:t>
            </a:r>
            <a:r>
              <a:rPr lang="en-US" altLang="ko-KR" sz="1400" dirty="0" smtClean="0"/>
              <a:t>“60 </a:t>
            </a:r>
            <a:r>
              <a:rPr lang="ko-KR" altLang="en-US" sz="1400" dirty="0" smtClean="0"/>
              <a:t>초</a:t>
            </a:r>
            <a:r>
              <a:rPr lang="en-US" altLang="ko-KR" sz="1400" dirty="0" smtClean="0"/>
              <a:t>” </a:t>
            </a:r>
            <a:r>
              <a:rPr lang="ko-KR" altLang="en-US" sz="1400" dirty="0" smtClean="0"/>
              <a:t>설정 후 </a:t>
            </a:r>
            <a:r>
              <a:rPr lang="en-US" altLang="ko-KR" sz="1400" dirty="0" smtClean="0"/>
              <a:t>“</a:t>
            </a:r>
            <a:r>
              <a:rPr lang="ko-KR" altLang="en-US" sz="1400" dirty="0" smtClean="0"/>
              <a:t>시작</a:t>
            </a:r>
            <a:r>
              <a:rPr lang="en-US" altLang="ko-KR" sz="1400" dirty="0" smtClean="0"/>
              <a:t>”</a:t>
            </a:r>
            <a:r>
              <a:rPr lang="ko-KR" altLang="en-US" sz="1400" dirty="0" smtClean="0"/>
              <a:t>을 선택하면 해당 페이지는 설정 된 시간마다 </a:t>
            </a:r>
            <a:r>
              <a:rPr lang="en-US" altLang="ko-KR" sz="1400" dirty="0" smtClean="0"/>
              <a:t>“</a:t>
            </a:r>
            <a:r>
              <a:rPr lang="ko-KR" altLang="en-US" sz="1400" dirty="0" err="1" smtClean="0"/>
              <a:t>새로고침</a:t>
            </a:r>
            <a:r>
              <a:rPr lang="en-US" altLang="ko-KR" sz="1400" dirty="0" smtClean="0"/>
              <a:t>“ </a:t>
            </a:r>
            <a:r>
              <a:rPr lang="ko-KR" altLang="en-US" sz="1400" dirty="0" smtClean="0"/>
              <a:t>동작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47700" y="2132141"/>
            <a:ext cx="7979566" cy="4191000"/>
            <a:chOff x="1143000" y="2209800"/>
            <a:chExt cx="6982785" cy="3667474"/>
          </a:xfrm>
        </p:grpSpPr>
        <p:pic>
          <p:nvPicPr>
            <p:cNvPr id="2052" name="Picture 4" descr="image00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2209800"/>
              <a:ext cx="6890047" cy="3429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24180" y="2209800"/>
              <a:ext cx="3101605" cy="36674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5220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5225" y="-555123"/>
            <a:ext cx="11254449" cy="796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94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29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21254</TotalTime>
  <Words>1239</Words>
  <Application>Microsoft Office PowerPoint</Application>
  <PresentationFormat>화면 슬라이드 쇼(4:3)</PresentationFormat>
  <Paragraphs>218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Gothic A1</vt:lpstr>
      <vt:lpstr>맑은 고딕</vt:lpstr>
      <vt:lpstr>뫼비우스 Bold</vt:lpstr>
      <vt:lpstr>Arial</vt:lpstr>
      <vt:lpstr>Calibri</vt:lpstr>
      <vt:lpstr>Century Gothic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</dc:title>
  <dc:creator>user</dc:creator>
  <cp:lastModifiedBy>sktsuser</cp:lastModifiedBy>
  <cp:revision>2190</cp:revision>
  <cp:lastPrinted>2023-12-08T06:36:04Z</cp:lastPrinted>
  <dcterms:created xsi:type="dcterms:W3CDTF">2020-10-26T02:16:47Z</dcterms:created>
  <dcterms:modified xsi:type="dcterms:W3CDTF">2026-04-03T01:56:01Z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lpwstr>2020-03-31T00:00:00Z</vt:lpwstr>
  </property>
  <property fmtid="{D5CDD505-2E9C-101B-9397-08002B2CF9AE}" pid="3" name="Creator">
    <vt:lpwstr>Adobe InDesign CS6 (Macintosh)</vt:lpwstr>
  </property>
  <property fmtid="{D5CDD505-2E9C-101B-9397-08002B2CF9AE}" pid="4" name="Fasoo_Trace_ID">
    <vt:lpwstr>eyJub2RlMSI6eyJkc2QiOiIwMTAwMDAwMDAwMDAyODE3IiwibG9nVGltZSI6IjIwMjMtMTItMDhUMDA6Mjk6NTVaIiwicElEIjoxLCJ0cmFjZUlkIjoiMzVDMTU3MzM2NzBFNDJBM0FDQkFBRUVGRjQ3MTMwMTQiLCJ1c2VyQ29kZSI6Ik4wNDAxNyJ9LCJub2RlMiI6eyJkc2QiOiIwMTAwMDAwMDAwMDAyODE3IiwibG9nVGltZSI6IjIwMjM</vt:lpwstr>
  </property>
  <property fmtid="{D5CDD505-2E9C-101B-9397-08002B2CF9AE}" pid="5" name="LastSaved">
    <vt:lpwstr>2020-10-26T00:00:00Z</vt:lpwstr>
  </property>
</Properties>
</file>